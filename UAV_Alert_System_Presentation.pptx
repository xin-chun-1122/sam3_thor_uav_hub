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914400"/>
            <a:ext cx="10362895" cy="5029200"/>
          </a:xfrm>
          <a:prstGeom prst="rect">
            <a:avLst/>
          </a:prstGeom>
          <a:solidFill>
            <a:srgbClr val="16213E"/>
          </a:solidFill>
          <a:ln w="19050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914400"/>
            <a:ext cx="274320" cy="502920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188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無人機雙目視覺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96596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E94560"/>
                </a:solidFill>
              </a:rPr>
              <a:t>事件式告警回傳系統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3017520"/>
            <a:ext cx="5790895" cy="36576"/>
          </a:xfrm>
          <a:prstGeom prst="rect">
            <a:avLst/>
          </a:prstGeom>
          <a:solidFill>
            <a:srgbClr val="5DA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31546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DADE2"/>
                </a:solidFill>
              </a:rPr>
              <a:t>UAV Dual-Camera Event-Driven Alert Transmission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65760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</a:rPr>
              <a:t>基於 Meta SAM3 零樣本偵測 + 事件狀態機 + WireGuard VPN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1148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AAAAA"/>
                </a:solidFill>
              </a:rPr>
              <a:t>平台：NVIDIA Jetson AGX Thor  ·  Intel RealSense D435 × 2  ·  ArduPilot MAVLink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4617720"/>
            <a:ext cx="5790895" cy="36576"/>
          </a:xfrm>
          <a:prstGeom prst="rect">
            <a:avLst/>
          </a:prstGeom>
          <a:solidFill>
            <a:srgbClr val="5DA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7091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AAAAA"/>
                </a:solidFill>
              </a:rPr>
              <a:t>國立清華大學  ·  2026-02-25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65562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</a:rPr>
              <a:t>無人機雙目視覺事件式告警回傳系統 · NTHU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0058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研究動機與問題定義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DADE2"/>
                </a:solidFill>
              </a:rPr>
              <a:t>為什麼需要事件式傳輸？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3200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AAAAAA"/>
                </a:solidFill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</a:rPr>
              <a:t>無人機雙目視覺事件式告警回傳系統 · NTHU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143000"/>
            <a:ext cx="5577840" cy="5120640"/>
          </a:xfrm>
          <a:prstGeom prst="rect">
            <a:avLst/>
          </a:prstGeom>
          <a:solidFill>
            <a:srgbClr val="16213E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143000"/>
            <a:ext cx="5577840" cy="38404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14300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  ⚠️  傳統連續串流的問題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1645920"/>
            <a:ext cx="5303520" cy="731520"/>
          </a:xfrm>
          <a:prstGeom prst="rect">
            <a:avLst/>
          </a:prstGeom>
          <a:solidFill>
            <a:srgbClr val="1E2A4A"/>
          </a:solidFill>
          <a:ln w="63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67335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7E22"/>
                </a:solidFill>
              </a:rPr>
              <a:t>◆  頻寬限制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19202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</a:rPr>
              <a:t>山區 4G LTE 上行僅 200 Kbps–2 Mbps
720p@15fps H.264 需 1,000–2,000 Kbps → 不可行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542032"/>
            <a:ext cx="5303520" cy="731520"/>
          </a:xfrm>
          <a:prstGeom prst="rect">
            <a:avLst/>
          </a:prstGeom>
          <a:solidFill>
            <a:srgbClr val="1E2A4A"/>
          </a:solidFill>
          <a:ln w="63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56946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7E22"/>
                </a:solidFill>
              </a:rPr>
              <a:t>◆  假陽性誤報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81635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</a:rPr>
              <a:t>雲、光影、枝葉晃動造成間歇性誤偵測
單幀偵測命中即觸發 → 大量無意義傳輸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3438144"/>
            <a:ext cx="5303520" cy="731520"/>
          </a:xfrm>
          <a:prstGeom prst="rect">
            <a:avLst/>
          </a:prstGeom>
          <a:solidFill>
            <a:srgbClr val="1E2A4A"/>
          </a:solidFill>
          <a:ln w="63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46557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7E22"/>
                </a:solidFill>
              </a:rPr>
              <a:t>◆  電力消耗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712464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</a:rPr>
              <a:t>持續串流需持續高功率運算
無人機續航時間受限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334256"/>
            <a:ext cx="5303520" cy="731520"/>
          </a:xfrm>
          <a:prstGeom prst="rect">
            <a:avLst/>
          </a:prstGeom>
          <a:solidFill>
            <a:srgbClr val="1E2A4A"/>
          </a:solidFill>
          <a:ln w="63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36168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67E22"/>
                </a:solidFill>
              </a:rPr>
              <a:t>◆  儲存壓力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608576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</a:rPr>
              <a:t>連續錄影產生大量無用影像
難以即時分析有效事件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1143000"/>
            <a:ext cx="5577840" cy="5120640"/>
          </a:xfrm>
          <a:prstGeom prst="rect">
            <a:avLst/>
          </a:prstGeom>
          <a:solidFill>
            <a:srgbClr val="16213E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1143000"/>
            <a:ext cx="5577840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1143000"/>
            <a:ext cx="5577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  ✅  本系統解決方案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46520" y="1645920"/>
            <a:ext cx="5303520" cy="731520"/>
          </a:xfrm>
          <a:prstGeom prst="rect">
            <a:avLst/>
          </a:prstGeom>
          <a:solidFill>
            <a:srgbClr val="1A3025"/>
          </a:solidFill>
          <a:ln w="63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167335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7AE60"/>
                </a:solidFill>
              </a:rPr>
              <a:t>◆  事件式傳輸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19202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</a:rPr>
              <a:t>只在偵測確認後才傳輸
頻寬節省 95–99%，靜默時 = 0 Kbps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46520" y="2542032"/>
            <a:ext cx="5303520" cy="731520"/>
          </a:xfrm>
          <a:prstGeom prst="rect">
            <a:avLst/>
          </a:prstGeom>
          <a:solidFill>
            <a:srgbClr val="1A3025"/>
          </a:solidFill>
          <a:ln w="63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2569464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7AE60"/>
                </a:solidFill>
              </a:rPr>
              <a:t>◆  狀態機過濾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281635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</a:rPr>
              <a:t>5 狀態 FSM 累積命中率
首次觸發需 ~3 秒，消除瞬間假陽性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46520" y="3438144"/>
            <a:ext cx="5303520" cy="731520"/>
          </a:xfrm>
          <a:prstGeom prst="rect">
            <a:avLst/>
          </a:prstGeom>
          <a:solidFill>
            <a:srgbClr val="1A3025"/>
          </a:solidFill>
          <a:ln w="63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37960" y="3465576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7AE60"/>
                </a:solidFill>
              </a:rPr>
              <a:t>◆  SAM3 零樣本偵測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3712464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</a:rPr>
              <a:t>Meta SAM3 text-grounding
無需重新訓練即可偵測 fire/smoke/person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46520" y="4334256"/>
            <a:ext cx="5303520" cy="731520"/>
          </a:xfrm>
          <a:prstGeom prst="rect">
            <a:avLst/>
          </a:prstGeom>
          <a:solidFill>
            <a:srgbClr val="1A3025"/>
          </a:solidFill>
          <a:ln w="63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4361688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7AE60"/>
                </a:solidFill>
              </a:rPr>
              <a:t>◆  WireGuard VPN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37960" y="4608576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</a:rPr>
              <a:t>端對端加密通訊
山區 4G LTE 穩定傳輸，延遲 ~230ms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0058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系統整體架構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DADE2"/>
                </a:solidFill>
              </a:rPr>
              <a:t>Jetson AGX Thor → WireGuard VPN → Hub Dashboard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3200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AAAAAA"/>
                </a:solidFill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</a:rPr>
              <a:t>無人機雙目視覺事件式告警回傳系統 · NTHU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1097280"/>
            <a:ext cx="6583680" cy="5212080"/>
          </a:xfrm>
          <a:prstGeom prst="rect">
            <a:avLst/>
          </a:prstGeom>
          <a:solidFill>
            <a:srgbClr val="16213E"/>
          </a:solidFill>
          <a:ln w="19050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2880" y="1097280"/>
            <a:ext cx="6583680" cy="347472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11556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DADE2"/>
                </a:solidFill>
              </a:rPr>
              <a:t>🚁  無人機端  (Jetson AGX Thor · CUDA 13 · sm_110)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572768"/>
            <a:ext cx="1554480" cy="502920"/>
          </a:xfrm>
          <a:prstGeom prst="rect">
            <a:avLst/>
          </a:prstGeom>
          <a:solidFill>
            <a:srgbClr val="0F3460"/>
          </a:solidFill>
          <a:ln w="10160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1572768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D435_A
640×480@15fps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176272"/>
            <a:ext cx="1554480" cy="502920"/>
          </a:xfrm>
          <a:prstGeom prst="rect">
            <a:avLst/>
          </a:prstGeom>
          <a:solidFill>
            <a:srgbClr val="0F3460"/>
          </a:solidFill>
          <a:ln w="10160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2176272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D435_B
640×480@15fps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1719072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DADE2"/>
                </a:solidFill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2322576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DADE2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31720" y="1719072"/>
            <a:ext cx="1645920" cy="914400"/>
          </a:xfrm>
          <a:prstGeom prst="rect">
            <a:avLst/>
          </a:prstGeom>
          <a:solidFill>
            <a:srgbClr val="14283E"/>
          </a:solidFill>
          <a:ln w="10160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31720" y="1719072"/>
            <a:ext cx="1645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pyrealsense2
BGR Frame
buffer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20574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DADE2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34840" y="1572768"/>
            <a:ext cx="2103120" cy="1280160"/>
          </a:xfrm>
          <a:prstGeom prst="rect">
            <a:avLst/>
          </a:prstGeom>
          <a:solidFill>
            <a:srgbClr val="2C1020"/>
          </a:solidFill>
          <a:ln w="1524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34840" y="1572768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Meta SAM3
Text Grounding
fire / smoke / person
FP16 autocast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9240" y="29260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94560"/>
                </a:solidFill>
              </a:rPr>
              <a:t>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2834640"/>
            <a:ext cx="1554480" cy="822960"/>
          </a:xfrm>
          <a:prstGeom prst="rect">
            <a:avLst/>
          </a:prstGeom>
          <a:solidFill>
            <a:srgbClr val="1A3015"/>
          </a:solidFill>
          <a:ln w="1016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283464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7AE60"/>
                </a:solidFill>
              </a:rPr>
              <a:t>飛控
/dev/ttyACM1
MAVLink 115200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30632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7AE60"/>
                </a:solidFill>
              </a:rPr>
              <a:t>→ GPS Cache 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34840" y="2971800"/>
            <a:ext cx="2103120" cy="1280160"/>
          </a:xfrm>
          <a:prstGeom prst="rect">
            <a:avLst/>
          </a:prstGeom>
          <a:solidFill>
            <a:srgbClr val="2A2510"/>
          </a:solidFill>
          <a:ln w="127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4840" y="297180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1C40F"/>
                </a:solidFill>
              </a:rPr>
              <a:t>Event State Machine
Normal→Suspected
→Confirmed→Tracking
→Lost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49240" y="431596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1C40F"/>
                </a:solidFill>
              </a:rPr>
              <a:t>↓ should_send?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34840" y="4663440"/>
            <a:ext cx="2103120" cy="777240"/>
          </a:xfrm>
          <a:prstGeom prst="rect">
            <a:avLst/>
          </a:prstGeom>
          <a:solidFill>
            <a:srgbClr val="1A2A40"/>
          </a:solidFill>
          <a:ln w="10160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34840" y="466344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</a:rPr>
              <a:t>fuse_frames()
雙相機拼接 + Overlay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49377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94560"/>
                </a:solidFill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95160" y="4389120"/>
            <a:ext cx="1737360" cy="1417320"/>
          </a:xfrm>
          <a:prstGeom prst="rect">
            <a:avLst/>
          </a:prstGeom>
          <a:solidFill>
            <a:srgbClr val="201010"/>
          </a:solidFill>
          <a:ln w="1270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95160" y="4389120"/>
            <a:ext cx="173736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send_alert()
WebP thumb
WebP evidence
meta JSON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961120" y="1097280"/>
            <a:ext cx="3017520" cy="5212080"/>
          </a:xfrm>
          <a:prstGeom prst="rect">
            <a:avLst/>
          </a:prstGeom>
          <a:solidFill>
            <a:srgbClr val="0D1B2A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961120" y="1097280"/>
            <a:ext cx="3017520" cy="3474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79408" y="111556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AE60"/>
                </a:solidFill>
              </a:rPr>
              <a:t>🖥️  Hub 地面站  (10.0.0.7:8080)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79408" y="1554480"/>
            <a:ext cx="2834640" cy="685800"/>
          </a:xfrm>
          <a:prstGeom prst="rect">
            <a:avLst/>
          </a:prstGeom>
          <a:solidFill>
            <a:srgbClr val="152515"/>
          </a:solidFill>
          <a:ln w="1016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979408" y="155448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27AE60"/>
                </a:solidFill>
              </a:rPr>
              <a:t>WireGuard VPN
10.0.0.20 → 10.0.0.7
~230ms @ 4G LTE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79408" y="2423160"/>
            <a:ext cx="2834640" cy="685800"/>
          </a:xfrm>
          <a:prstGeom prst="rect">
            <a:avLst/>
          </a:prstGeom>
          <a:solidFill>
            <a:srgbClr val="1A1A35"/>
          </a:solidFill>
          <a:ln w="10160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79408" y="2423160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Flask Server
POST /api/v1/alerts
驗證 Token + 存檔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979408" y="3273552"/>
            <a:ext cx="2834640" cy="685800"/>
          </a:xfrm>
          <a:prstGeom prst="rect">
            <a:avLst/>
          </a:prstGeom>
          <a:solidFill>
            <a:srgbClr val="1A1A35"/>
          </a:solidFill>
          <a:ln w="10160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979408" y="3273552"/>
            <a:ext cx="28346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AAAAA"/>
                </a:solidFill>
              </a:rPr>
              <a:t>hub_events/&lt;event_id&gt;/
meta.json / thumb.webp
evidence.webp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979408" y="4123944"/>
            <a:ext cx="2834640" cy="868680"/>
          </a:xfrm>
          <a:prstGeom prst="rect">
            <a:avLst/>
          </a:prstGeom>
          <a:solidFill>
            <a:srgbClr val="1A1A35"/>
          </a:solidFill>
          <a:ln w="1016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79408" y="4123944"/>
            <a:ext cx="28346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1C40F"/>
                </a:solidFill>
              </a:rPr>
              <a:t>Web Dashboard
自動 10s 刷新
DETECTION / FIRE / PERSON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979408" y="5157216"/>
            <a:ext cx="2834640" cy="548640"/>
          </a:xfrm>
          <a:prstGeom prst="rect">
            <a:avLst/>
          </a:prstGeom>
          <a:solidFill>
            <a:srgbClr val="1A1A1A"/>
          </a:solidFill>
          <a:ln w="1016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79408" y="5157216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AAAAAA"/>
                </a:solidFill>
              </a:rPr>
              <a:t>queue/ 離線容錯備份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0" y="320040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7AE60"/>
                </a:solidFill>
              </a:rPr>
              <a:t>══════ WireGuard VPN ══════►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0058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硬體規格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DADE2"/>
                </a:solidFill>
              </a:rPr>
              <a:t>計算平台 · 相機 · 飛控 · 網路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3200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AAAAAA"/>
                </a:solidFill>
              </a:rPr>
              <a:t>04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</a:rPr>
              <a:t>無人機雙目視覺事件式告警回傳系統 · NTHU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188720"/>
            <a:ext cx="5760720" cy="658368"/>
          </a:xfrm>
          <a:prstGeom prst="rect">
            <a:avLst/>
          </a:prstGeom>
          <a:solidFill>
            <a:srgbClr val="16213E"/>
          </a:solidFill>
          <a:ln w="10160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" y="12344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DADE2"/>
                </a:solidFill>
              </a:rPr>
              <a:t>計算平台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" y="1508760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NVIDIA Jetson AGX Thor Developer Kit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8600" y="1938528"/>
            <a:ext cx="5760720" cy="658368"/>
          </a:xfrm>
          <a:prstGeom prst="rect">
            <a:avLst/>
          </a:prstGeom>
          <a:solidFill>
            <a:srgbClr val="16213E"/>
          </a:solidFill>
          <a:ln w="10160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" y="198424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DADE2"/>
                </a:solidFill>
              </a:rPr>
              <a:t>GPU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" y="2258568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NVIDIA Thor GPU (sm_110)，72-core Ampere architecture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2688336"/>
            <a:ext cx="5760720" cy="658368"/>
          </a:xfrm>
          <a:prstGeom prst="rect">
            <a:avLst/>
          </a:prstGeom>
          <a:solidFill>
            <a:srgbClr val="16213E"/>
          </a:solidFill>
          <a:ln w="10160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8328" y="273405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DADE2"/>
                </a:solidFill>
              </a:rPr>
              <a:t>CUDA 版本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" y="3008376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CUDA 13.0 · 容器：PyTorch 2.9.0+cu130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" y="3438144"/>
            <a:ext cx="5760720" cy="658368"/>
          </a:xfrm>
          <a:prstGeom prst="rect">
            <a:avLst/>
          </a:prstGeom>
          <a:solidFill>
            <a:srgbClr val="16213E"/>
          </a:solidFill>
          <a:ln w="1016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" y="3483863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94560"/>
                </a:solidFill>
              </a:rPr>
              <a:t>相機 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" y="3758183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Intel RealSense D435  (SN: 332522075298)  USB3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" y="4187952"/>
            <a:ext cx="5760720" cy="658368"/>
          </a:xfrm>
          <a:prstGeom prst="rect">
            <a:avLst/>
          </a:prstGeom>
          <a:solidFill>
            <a:srgbClr val="16213E"/>
          </a:solidFill>
          <a:ln w="1016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8" y="423367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94560"/>
                </a:solidFill>
              </a:rPr>
              <a:t>相機 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" y="4507992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Intel RealSense D435  (SN: 332522073133)  USB3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4937760"/>
            <a:ext cx="5760720" cy="658368"/>
          </a:xfrm>
          <a:prstGeom prst="rect">
            <a:avLst/>
          </a:prstGeom>
          <a:solidFill>
            <a:srgbClr val="16213E"/>
          </a:solidFill>
          <a:ln w="1016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8328" y="49834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94560"/>
                </a:solidFill>
              </a:rPr>
              <a:t>相機解析度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" y="5257800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640 × 480 @ 15 FPS  BGR 彩色串流 + 深度流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1188720"/>
            <a:ext cx="5760720" cy="658368"/>
          </a:xfrm>
          <a:prstGeom prst="rect">
            <a:avLst/>
          </a:prstGeom>
          <a:solidFill>
            <a:srgbClr val="16213E"/>
          </a:solidFill>
          <a:ln w="1016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73368" y="12344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AE60"/>
                </a:solidFill>
              </a:rPr>
              <a:t>飛行控制器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1508760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ArduPilot  /dev/ttyACM1  MAVLink Baud 115200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1938528"/>
            <a:ext cx="5760720" cy="658368"/>
          </a:xfrm>
          <a:prstGeom prst="rect">
            <a:avLst/>
          </a:prstGeom>
          <a:solidFill>
            <a:srgbClr val="16213E"/>
          </a:solidFill>
          <a:ln w="1016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73368" y="198424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AE60"/>
                </a:solidFill>
              </a:rPr>
              <a:t>GPS 訊息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3368" y="2258568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GLOBAL_POSITION_INT / GPS_RAW_INT (fix_type ≥ 2)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2688336"/>
            <a:ext cx="5760720" cy="658368"/>
          </a:xfrm>
          <a:prstGeom prst="rect">
            <a:avLst/>
          </a:prstGeom>
          <a:solidFill>
            <a:srgbClr val="16213E"/>
          </a:solidFill>
          <a:ln w="1016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3368" y="273405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1C40F"/>
                </a:solidFill>
              </a:rPr>
              <a:t>網路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73368" y="3008376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WireGuard VPN  Thor:10.0.0.20 → Hub:10.0.0.7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3438144"/>
            <a:ext cx="5760720" cy="658368"/>
          </a:xfrm>
          <a:prstGeom prst="rect">
            <a:avLst/>
          </a:prstGeom>
          <a:solidFill>
            <a:srgbClr val="16213E"/>
          </a:solidFill>
          <a:ln w="1016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73368" y="3483863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1C40F"/>
                </a:solidFill>
              </a:rPr>
              <a:t>VPN 延遲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73368" y="3758183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~230 ms (山區 4G LTE)  ·  峰值傳輸 ~264 Kbps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63640" y="4187952"/>
            <a:ext cx="5760720" cy="658368"/>
          </a:xfrm>
          <a:prstGeom prst="rect">
            <a:avLst/>
          </a:prstGeom>
          <a:solidFill>
            <a:srgbClr val="16213E"/>
          </a:solidFill>
          <a:ln w="1016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73368" y="423367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AAAAA"/>
                </a:solidFill>
              </a:rPr>
              <a:t>容器映像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73368" y="4507992"/>
            <a:ext cx="5486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uav-fire-detector:latest  (24.7 GB)  pyrealsense2 2.55.1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0058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軟體堆疊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DADE2"/>
                </a:solidFill>
              </a:rPr>
              <a:t>OS · Container · DL Framework · 通訊 · 推論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3200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AAAAAA"/>
                </a:solidFill>
              </a:rPr>
              <a:t>05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</a:rPr>
              <a:t>無人機雙目視覺事件式告警回傳系統 · NTHU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097280"/>
            <a:ext cx="11704320" cy="1115568"/>
          </a:xfrm>
          <a:prstGeom prst="rect">
            <a:avLst/>
          </a:prstGeom>
          <a:solidFill>
            <a:srgbClr val="16213E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097280"/>
            <a:ext cx="2286000" cy="1115568"/>
          </a:xfrm>
          <a:prstGeom prst="rect">
            <a:avLst/>
          </a:prstGeom>
          <a:solidFill>
            <a:srgbClr val="0D3C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152144"/>
            <a:ext cx="2103120" cy="1024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27AE60"/>
                </a:solidFill>
              </a:rPr>
              <a:t>Layer 7  Hub 伺服器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11430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AE60"/>
                </a:solidFill>
              </a:rPr>
              <a:t>Flask 3.x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11430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</a:rPr>
              <a:t>REST API + Web Dashboard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152704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AE60"/>
                </a:solidFill>
              </a:rPr>
              <a:t>hub_server.py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152704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</a:rPr>
              <a:t>POST /api/v1/alerts  ·  Dashboard 自動刷新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" y="2286000"/>
            <a:ext cx="11704320" cy="1115568"/>
          </a:xfrm>
          <a:prstGeom prst="rect">
            <a:avLst/>
          </a:prstGeom>
          <a:solidFill>
            <a:srgbClr val="16213E"/>
          </a:solidFill>
          <a:ln w="12700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28600" y="2286000"/>
            <a:ext cx="2286000" cy="1115568"/>
          </a:xfrm>
          <a:prstGeom prst="rect">
            <a:avLst/>
          </a:prstGeom>
          <a:solidFill>
            <a:srgbClr val="203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2340864"/>
            <a:ext cx="2103120" cy="1024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5DADE2"/>
                </a:solidFill>
              </a:rPr>
              <a:t>Layer 6  傳輸層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23317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DADE2"/>
                </a:solidFill>
              </a:rPr>
              <a:t>requests 2.31+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23317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</a:rPr>
              <a:t>multipart/form-data POST  ·  WebP Q60/Q75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51760" y="27157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DADE2"/>
                </a:solidFill>
              </a:rPr>
              <a:t>WireGuard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0" y="271576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</a:rPr>
              <a:t>端對端加密 VPN  ·  230ms 延遲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3474720"/>
            <a:ext cx="11704320" cy="1115568"/>
          </a:xfrm>
          <a:prstGeom prst="rect">
            <a:avLst/>
          </a:prstGeom>
          <a:solidFill>
            <a:srgbClr val="16213E"/>
          </a:solidFill>
          <a:ln w="1270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28600" y="3474720"/>
            <a:ext cx="2286000" cy="1115568"/>
          </a:xfrm>
          <a:prstGeom prst="rect">
            <a:avLst/>
          </a:prstGeom>
          <a:solidFill>
            <a:srgbClr val="5118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3529584"/>
            <a:ext cx="2103120" cy="1024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E94560"/>
                </a:solidFill>
              </a:rPr>
              <a:t>Layer 5  深度學習推論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51760" y="352043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94560"/>
                </a:solidFill>
              </a:rPr>
              <a:t>Meta SAM3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03520" y="3520439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</a:rPr>
              <a:t>Text Grounding  ·  Zero-shot  ·  FP16 autocast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51760" y="3904487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94560"/>
                </a:solidFill>
              </a:rPr>
              <a:t>PyTorch 2.9.0+cu130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0" y="3904487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</a:rPr>
              <a:t>sm_110 (NVIDIA Thor)  ·  CUDA 13.0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" y="4663440"/>
            <a:ext cx="11704320" cy="1115568"/>
          </a:xfrm>
          <a:prstGeom prst="rect">
            <a:avLst/>
          </a:prstGeom>
          <a:solidFill>
            <a:srgbClr val="16213E"/>
          </a:solidFill>
          <a:ln w="127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4663440"/>
            <a:ext cx="2286000" cy="1115568"/>
          </a:xfrm>
          <a:prstGeom prst="rect">
            <a:avLst/>
          </a:prstGeom>
          <a:solidFill>
            <a:srgbClr val="54440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4718303"/>
            <a:ext cx="2103120" cy="1024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1C40F"/>
                </a:solidFill>
              </a:rPr>
              <a:t>Layer 4  相機 SDK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51760" y="470915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1C40F"/>
                </a:solidFill>
              </a:rPr>
              <a:t>pyrealsense2 2.55.1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0" y="4709159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</a:rPr>
              <a:t>D435 USB3 直讀  ·  BGR 480p@15fps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1760" y="5093207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1C40F"/>
                </a:solidFill>
              </a:rPr>
              <a:t>pymavlink 2.4.49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0" y="5093207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</a:rPr>
              <a:t>MAVLink GPS 讀取  ·  背景執行緒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28600" y="5852159"/>
            <a:ext cx="11704320" cy="1115568"/>
          </a:xfrm>
          <a:prstGeom prst="rect">
            <a:avLst/>
          </a:prstGeom>
          <a:solidFill>
            <a:srgbClr val="16213E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28600" y="5852159"/>
            <a:ext cx="2286000" cy="1115568"/>
          </a:xfrm>
          <a:prstGeom prst="rect">
            <a:avLst/>
          </a:prstGeom>
          <a:solidFill>
            <a:srgbClr val="3B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5907023"/>
            <a:ext cx="2103120" cy="1024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AAAAAA"/>
                </a:solidFill>
              </a:rPr>
              <a:t>Layer 3  Container Runtime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51760" y="589787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AAAAA"/>
                </a:solidFill>
              </a:rPr>
              <a:t>Docker + NVIDIA 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03520" y="5897879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</a:rPr>
              <a:t>uav-fire-detector:latest  24.7GB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51760" y="6281927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AAAAA"/>
                </a:solidFill>
              </a:rPr>
              <a:t>Python 3.12 venv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303520" y="6281927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</a:rPr>
              <a:t>/opt/venv  ·  所有相依套件獨立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28600" y="7040879"/>
            <a:ext cx="11704320" cy="731520"/>
          </a:xfrm>
          <a:prstGeom prst="rect">
            <a:avLst/>
          </a:prstGeom>
          <a:solidFill>
            <a:srgbClr val="16213E"/>
          </a:solidFill>
          <a:ln w="127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28600" y="7040879"/>
            <a:ext cx="2286000" cy="731520"/>
          </a:xfrm>
          <a:prstGeom prst="rect">
            <a:avLst/>
          </a:prstGeom>
          <a:solidFill>
            <a:srgbClr val="3B3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" y="7095743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AAAAAA"/>
                </a:solidFill>
              </a:rPr>
              <a:t>Layer 2  OS / BSP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51760" y="708659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AAAAA"/>
                </a:solidFill>
              </a:rPr>
              <a:t>Ubuntu 22.04 (Jetson BSP)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03520" y="7086599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</a:rPr>
              <a:t>ROS2 Jazzy  /opt/ros/jazzy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0058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SAM3 文字引導式偵測（Text-Grounding）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DADE2"/>
                </a:solidFill>
              </a:rPr>
              <a:t>Zero-shot · FP16 · 每幀 set_image 只呼叫 1 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3200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AAAAAA"/>
                </a:solidFill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</a:rPr>
              <a:t>無人機雙目視覺事件式告警回傳系統 · NTHU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1417320" cy="1463040"/>
          </a:xfrm>
          <a:prstGeom prst="rect">
            <a:avLst/>
          </a:prstGeom>
          <a:solidFill>
            <a:srgbClr val="16213E"/>
          </a:solidFill>
          <a:ln w="19050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463040"/>
            <a:ext cx="1325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DADE2"/>
                </a:solidFill>
              </a:rPr>
              <a:t>D435 BGR Frame
640 × 480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202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DADE2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011679" y="1371600"/>
            <a:ext cx="1417320" cy="1463040"/>
          </a:xfrm>
          <a:prstGeom prst="rect">
            <a:avLst/>
          </a:prstGeom>
          <a:solidFill>
            <a:srgbClr val="16213E"/>
          </a:solidFill>
          <a:ln w="19050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57399" y="1463040"/>
            <a:ext cx="1325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DADE2"/>
                </a:solidFill>
              </a:rPr>
              <a:t>BGR→RGB
PIL.Image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19202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DADE2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49039" y="1371600"/>
            <a:ext cx="1417320" cy="1463040"/>
          </a:xfrm>
          <a:prstGeom prst="rect">
            <a:avLst/>
          </a:prstGeom>
          <a:solidFill>
            <a:srgbClr val="16213E"/>
          </a:solidFill>
          <a:ln w="1905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94759" y="1463040"/>
            <a:ext cx="1325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94560"/>
                </a:solidFill>
              </a:rPr>
              <a:t>set_image()
特徵提取
(共用)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59" y="19202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DADE2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0" y="1371600"/>
            <a:ext cx="1417320" cy="1463040"/>
          </a:xfrm>
          <a:prstGeom prst="rect">
            <a:avLst/>
          </a:prstGeom>
          <a:solidFill>
            <a:srgbClr val="16213E"/>
          </a:solidFill>
          <a:ln w="1905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32120" y="1463040"/>
            <a:ext cx="1325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94560"/>
                </a:solidFill>
              </a:rPr>
              <a:t>set_text_prompt()
× 3 labels
fire/smoke/person
(FP16 autocast)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19202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DADE2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23760" y="1371600"/>
            <a:ext cx="1417320" cy="1463040"/>
          </a:xfrm>
          <a:prstGeom prst="rect">
            <a:avLst/>
          </a:prstGeom>
          <a:solidFill>
            <a:srgbClr val="16213E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69480" y="1463040"/>
            <a:ext cx="1325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1C40F"/>
                </a:solidFill>
              </a:rPr>
              <a:t>boxes / scores
/ masks
輸出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19202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DADE2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20" y="1371600"/>
            <a:ext cx="1417320" cy="1463040"/>
          </a:xfrm>
          <a:prstGeom prst="rect">
            <a:avLst/>
          </a:prstGeom>
          <a:solidFill>
            <a:srgbClr val="16213E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06840" y="1463040"/>
            <a:ext cx="1325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7AE60"/>
                </a:solidFill>
              </a:rPr>
              <a:t>過濾
score≥0.45
mask≥200px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78440" y="192024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DADE2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698480" y="1371600"/>
            <a:ext cx="1417320" cy="1463040"/>
          </a:xfrm>
          <a:prstGeom prst="rect">
            <a:avLst/>
          </a:prstGeom>
          <a:solidFill>
            <a:srgbClr val="16213E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44200" y="1463040"/>
            <a:ext cx="1325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7AE60"/>
                </a:solidFill>
              </a:rPr>
              <a:t>Detection List
[label,score,
bbox,mask]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154680"/>
            <a:ext cx="11430000" cy="3017520"/>
          </a:xfrm>
          <a:prstGeom prst="rect">
            <a:avLst/>
          </a:prstGeom>
          <a:solidFill>
            <a:srgbClr val="16213E"/>
          </a:solidFill>
          <a:ln w="10160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2918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DADE2"/>
                </a:solidFill>
              </a:rPr>
              <a:t>◆ 模型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3291840"/>
            <a:ext cx="9509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Meta SAM3 Image Model  (facebook/sam3)  ·  3.45 GB  ·  解析度 1008×1008  ·  信心門檻 0.45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749039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DADE2"/>
                </a:solidFill>
              </a:rPr>
              <a:t>◆ 效能關鍵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3749039"/>
            <a:ext cx="9509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set_image() 每幀只呼叫 1 次（所有標籤共用特徵）  →  相較3次呼叫節省 ~66% 特徵提取時間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2062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DADE2"/>
                </a:solidFill>
              </a:rPr>
              <a:t>◆ 精度優化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4206240"/>
            <a:ext cx="9509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FP16 autocast (torch.float16)  ·  只包住 PyTorch 推論區塊  ·  避免 BF16/OpenCV 型別衝突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6634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DADE2"/>
                </a:solidFill>
              </a:rPr>
              <a:t>◆ Mask 處理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4663440"/>
            <a:ext cx="9509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masks tensor 形狀 (N,K,H,W) → while ndim&gt;2: mask=mask[0] 壓縮到 2D  ·  resize 到原圖尺寸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12064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DADE2"/>
                </a:solidFill>
              </a:rPr>
              <a:t>◆ 推論頻率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57400" y="5120640"/>
            <a:ext cx="9509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2 Hz (每 0.5 秒)  ·  雙相機各 1 次  ·  等效每秒 4 次 set_image  ·  可調至 4Hz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0058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事件狀態機（Event State Machine）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DADE2"/>
                </a:solidFill>
              </a:rPr>
              <a:t>5 狀態 FSM · per-label · 滑動視窗累積命中率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3200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AAAAAA"/>
                </a:solidFill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</a:rPr>
              <a:t>無人機雙目視覺事件式告警回傳系統 · NTHU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291840"/>
            <a:ext cx="1828800" cy="777240"/>
          </a:xfrm>
          <a:prstGeom prst="rect">
            <a:avLst/>
          </a:prstGeom>
          <a:solidFill>
            <a:srgbClr val="16213E"/>
          </a:solidFill>
          <a:ln w="254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345643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AAAAAA"/>
                </a:solidFill>
              </a:rPr>
              <a:t>NORMAL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8880" y="3291840"/>
            <a:ext cx="1828800" cy="777240"/>
          </a:xfrm>
          <a:prstGeom prst="rect">
            <a:avLst/>
          </a:prstGeom>
          <a:solidFill>
            <a:srgbClr val="16213E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345643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67E22"/>
                </a:solidFill>
              </a:rPr>
              <a:t>SUSPECTED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3291840"/>
            <a:ext cx="1828800" cy="777240"/>
          </a:xfrm>
          <a:prstGeom prst="rect">
            <a:avLst/>
          </a:prstGeom>
          <a:solidFill>
            <a:srgbClr val="16213E"/>
          </a:solidFill>
          <a:ln w="2540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345643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94560"/>
                </a:solidFill>
              </a:rPr>
              <a:t>CONFIRMED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3291840"/>
            <a:ext cx="1828800" cy="777240"/>
          </a:xfrm>
          <a:prstGeom prst="rect">
            <a:avLst/>
          </a:prstGeom>
          <a:solidFill>
            <a:srgbClr val="16213E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345643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27AE60"/>
                </a:solidFill>
              </a:rPr>
              <a:t>TRACKING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78240" y="3291840"/>
            <a:ext cx="1828800" cy="777240"/>
          </a:xfrm>
          <a:prstGeom prst="rect">
            <a:avLst/>
          </a:prstGeom>
          <a:solidFill>
            <a:srgbClr val="16213E"/>
          </a:solidFill>
          <a:ln w="2540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0" y="345643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AAAAAA"/>
                </a:solidFill>
              </a:rPr>
              <a:t>LOST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19" y="36758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DADE2"/>
                </a:solidFill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19" y="39319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DADE2"/>
                </a:solidFill>
              </a:rPr>
              <a:t>M1內≥N1
命中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40" y="36758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DADE2"/>
                </a:solidFill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39319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DADE2"/>
                </a:solidFill>
              </a:rPr>
              <a:t>M2內≥N2
命中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36758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DADE2"/>
                </a:solidFill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60" y="39319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DADE2"/>
                </a:solidFill>
              </a:rPr>
              <a:t>進入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0" y="36758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DADE2"/>
                </a:solidFill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26680" y="39319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DADE2"/>
                </a:solidFill>
              </a:rPr>
              <a:t>T_LOST
秒無命中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3434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</a:rPr>
              <a:t>↩ 重置 → NORMAL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43434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</a:rPr>
              <a:t>Suspected 視窗清空 ↩ NORMAL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" y="1143000"/>
            <a:ext cx="11704320" cy="1920240"/>
          </a:xfrm>
          <a:prstGeom prst="rect">
            <a:avLst/>
          </a:prstGeom>
          <a:solidFill>
            <a:srgbClr val="16213E"/>
          </a:solidFill>
          <a:ln w="10160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12801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DADE2"/>
                </a:solidFill>
              </a:rPr>
              <a:t>LOOP_INTERVAL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48840" y="128016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1C40F"/>
                </a:solidFill>
              </a:rPr>
              <a:t>0.5 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17520" y="12801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</a:rPr>
              <a:t>推論間隔（2 Hz）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1664207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DADE2"/>
                </a:solidFill>
              </a:rPr>
              <a:t>SM_M1 / SM_N1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48840" y="1664207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1C40F"/>
                </a:solidFill>
              </a:rPr>
              <a:t>5 幀 / 2 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17520" y="1664207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</a:rPr>
              <a:t>→ Suspected：2.5s 視窗內 2 次命中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2048255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DADE2"/>
                </a:solidFill>
              </a:rPr>
              <a:t>SM_M2 / SM_N2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48840" y="2048255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1C40F"/>
                </a:solidFill>
              </a:rPr>
              <a:t>10 幀 / 4 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017520" y="2048255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</a:rPr>
              <a:t>→ Confirmed：5s 視窗內 4 次命中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1280160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DADE2"/>
                </a:solidFill>
              </a:rPr>
              <a:t>SM_T_SEND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01000" y="128016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1C40F"/>
                </a:solidFill>
              </a:rPr>
              <a:t>2.0 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69680" y="12801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</a:rPr>
              <a:t>Tracking：最短傳送間隔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1664207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DADE2"/>
                </a:solidFill>
              </a:rPr>
              <a:t>SM_T_LOST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01000" y="1664207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1C40F"/>
                </a:solidFill>
              </a:rPr>
              <a:t>10.0 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69680" y="1664207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</a:rPr>
              <a:t>無命中後進入 Lost 狀態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7920" y="2048255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DADE2"/>
                </a:solidFill>
              </a:rPr>
              <a:t>SCORE_THR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01000" y="2048255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1C40F"/>
                </a:solidFill>
              </a:rPr>
              <a:t>0.45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69680" y="2048255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</a:rPr>
              <a:t>SAM3 最低信心分數門檻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8600" y="4846320"/>
            <a:ext cx="11704320" cy="1371600"/>
          </a:xfrm>
          <a:prstGeom prst="rect">
            <a:avLst/>
          </a:prstGeom>
          <a:solidFill>
            <a:srgbClr val="16213E"/>
          </a:solidFill>
          <a:ln w="1016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60" y="48920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1C40F"/>
                </a:solidFill>
              </a:rPr>
              <a:t>時序示意：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5212080"/>
            <a:ext cx="11338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時間(s): 0    0.5   1.0   1.5   2.0   2.5   3.0   3.5   4.0   4.5   5.0   5.5   6.0
命中:    ○     ●     ●     ○     ●     ●     ○     ●     ●     ●     ●     ●     ●
狀態:  Normal  Susp  Susp  Susp  Susp  Conf  Track Track Track Track Track Track
傳輸:                                         🔴                  🔴              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0058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傳輸內容與頻寬分析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DADE2"/>
                </a:solidFill>
              </a:rPr>
              <a:t>事件式 vs 連續串流  ·  山區 4G LTE 可行性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3200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AAAAAA"/>
                </a:solidFill>
              </a:rP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</a:rPr>
              <a:t>無人機雙目視覺事件式告警回傳系統 · NTHU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143000"/>
            <a:ext cx="5486400" cy="2834640"/>
          </a:xfrm>
          <a:prstGeom prst="rect">
            <a:avLst/>
          </a:prstGeom>
          <a:solidFill>
            <a:srgbClr val="16213E"/>
          </a:solidFill>
          <a:ln w="12700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8600" y="1143000"/>
            <a:ext cx="5486400" cy="365760"/>
          </a:xfrm>
          <a:prstGeom prst="rect">
            <a:avLst/>
          </a:prstGeom>
          <a:solidFill>
            <a:srgbClr val="0F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" y="1143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  每次 POST 傳輸內容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1600200"/>
            <a:ext cx="5303520" cy="457200"/>
          </a:xfrm>
          <a:prstGeom prst="rect">
            <a:avLst/>
          </a:prstGeom>
          <a:solidFill>
            <a:srgbClr val="1A243A"/>
          </a:solidFill>
          <a:ln w="6350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166420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DADE2"/>
                </a:solidFill>
              </a:rPr>
              <a:t>meta.json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16642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</a:rPr>
              <a:t>事件ID / GPS / 時間戳 / bbox / label / score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166420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DADE2"/>
                </a:solidFill>
              </a:rPr>
              <a:t>&lt; 1 KB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121408"/>
            <a:ext cx="5303520" cy="457200"/>
          </a:xfrm>
          <a:prstGeom prst="rect">
            <a:avLst/>
          </a:prstGeom>
          <a:solidFill>
            <a:srgbClr val="1A243A"/>
          </a:solidFill>
          <a:ln w="6350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185415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DADE2"/>
                </a:solidFill>
              </a:rPr>
              <a:t>thumb.webp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2185415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</a:rPr>
              <a:t>雙相機拼接縮圖 320×240  WebP Q60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2185415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DADE2"/>
                </a:solidFill>
              </a:rPr>
              <a:t>5–15 KB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642615"/>
            <a:ext cx="5303520" cy="457200"/>
          </a:xfrm>
          <a:prstGeom prst="rect">
            <a:avLst/>
          </a:prstGeom>
          <a:solidFill>
            <a:srgbClr val="1A243A"/>
          </a:solidFill>
          <a:ln w="635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2706623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94560"/>
                </a:solidFill>
              </a:rPr>
              <a:t>evidence.webp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2706623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</a:rPr>
              <a:t>ROI 截圖 + SAM3 Mask + BBox  WebP Q75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2706623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94560"/>
                </a:solidFill>
              </a:rPr>
              <a:t>15–50 KB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163823"/>
            <a:ext cx="5303520" cy="457200"/>
          </a:xfrm>
          <a:prstGeom prst="rect">
            <a:avLst/>
          </a:prstGeom>
          <a:solidFill>
            <a:srgbClr val="1A243A"/>
          </a:solidFill>
          <a:ln w="63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3227831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AE60"/>
                </a:solidFill>
              </a:rPr>
              <a:t>合計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3227831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3227831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AE60"/>
                </a:solidFill>
              </a:rPr>
              <a:t>21–66 KB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143000"/>
            <a:ext cx="5897880" cy="2834640"/>
          </a:xfrm>
          <a:prstGeom prst="rect">
            <a:avLst/>
          </a:prstGeom>
          <a:solidFill>
            <a:srgbClr val="16213E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5040" y="1143000"/>
            <a:ext cx="5897880" cy="365760"/>
          </a:xfrm>
          <a:prstGeom prst="rect">
            <a:avLst/>
          </a:prstGeom>
          <a:solidFill>
            <a:srgbClr val="0D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0" y="1143000"/>
            <a:ext cx="5897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7AE60"/>
                </a:solidFill>
              </a:rPr>
              <a:t>  頻寬需求比較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1600200"/>
            <a:ext cx="5715000" cy="457200"/>
          </a:xfrm>
          <a:prstGeom prst="rect">
            <a:avLst/>
          </a:prstGeom>
          <a:solidFill>
            <a:srgbClr val="0D1E14"/>
          </a:solidFill>
          <a:ln w="635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16642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</a:rPr>
              <a:t>本系統 Tracking 峰值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23960" y="166420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</a:rPr>
              <a:t>66KB × (1/2s)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49840" y="166420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94560"/>
                </a:solidFill>
              </a:rPr>
              <a:t>264 Kbps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2121408"/>
            <a:ext cx="5715000" cy="457200"/>
          </a:xfrm>
          <a:prstGeom prst="rect">
            <a:avLst/>
          </a:prstGeom>
          <a:solidFill>
            <a:srgbClr val="0D1E14"/>
          </a:solidFill>
          <a:ln w="63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0" y="2185415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</a:rPr>
              <a:t>本系統 Tracking 均值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23960" y="2185415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</a:rPr>
              <a:t>40KB × (1/3s)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9840" y="2185415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1C40F"/>
                </a:solidFill>
              </a:rPr>
              <a:t>107 Kbps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26480" y="2642615"/>
            <a:ext cx="5715000" cy="457200"/>
          </a:xfrm>
          <a:prstGeom prst="rect">
            <a:avLst/>
          </a:prstGeom>
          <a:solidFill>
            <a:srgbClr val="0D1E14"/>
          </a:solidFill>
          <a:ln w="63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17920" y="2706623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</a:rPr>
              <a:t>本系統 靜默（無事件）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23960" y="2706623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</a:rPr>
              <a:t>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49840" y="2706623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AE60"/>
                </a:solidFill>
              </a:rPr>
              <a:t>0 Kbps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0" y="3163823"/>
            <a:ext cx="5715000" cy="457200"/>
          </a:xfrm>
          <a:prstGeom prst="rect">
            <a:avLst/>
          </a:prstGeom>
          <a:solidFill>
            <a:srgbClr val="0D1E14"/>
          </a:solidFill>
          <a:ln w="63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17920" y="3227831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</a:rPr>
              <a:t>720p@15fps H.264 串流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23960" y="3227831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</a:rPr>
              <a:t>連續傳輸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49840" y="3227831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7E22"/>
                </a:solidFill>
              </a:rPr>
              <a:t>1,000–2,000 Kbps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126480" y="3685031"/>
            <a:ext cx="5715000" cy="457200"/>
          </a:xfrm>
          <a:prstGeom prst="rect">
            <a:avLst/>
          </a:prstGeom>
          <a:solidFill>
            <a:srgbClr val="0D1E14"/>
          </a:solidFill>
          <a:ln w="63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17920" y="3749039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</a:rPr>
              <a:t>節省比例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23960" y="3749039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</a:rPr>
              <a:t>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49840" y="3749039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AE60"/>
                </a:solidFill>
              </a:rPr>
              <a:t>95–99%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28600" y="4251960"/>
            <a:ext cx="11704320" cy="1417320"/>
          </a:xfrm>
          <a:prstGeom prst="rect">
            <a:avLst/>
          </a:prstGeom>
          <a:solidFill>
            <a:srgbClr val="16213E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5760" y="4297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7AE60"/>
                </a:solidFill>
              </a:rPr>
              <a:t>✅  山區低頻寬可行性分析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65760" y="47091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DADE2"/>
                </a:solidFill>
              </a:rPr>
              <a:t>4G LTE 山區（200Kbps–2Mbps）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49039" y="470916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✅ 完全可行  ·  追蹤時均值 107 Kbps  ·  靜默時 0 Kbps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505663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DADE2"/>
                </a:solidFill>
              </a:rPr>
              <a:t>Starlink 低延遲衛星（&gt;5Mbps）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49039" y="5056632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✅ 完全可行  ·  可縮短 SM_T_SEND 至 1.0s 提升響應速度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65760" y="540410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DADE2"/>
                </a:solidFill>
              </a:rPr>
              <a:t>Iridium/Thuraya 衛星（64Kbps）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749039" y="5404104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⚠️ 需調整：SM_T_SEND≥8s + WebP Q30 → ~20KB/次 ≈ 20Kbps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0058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GPS 定位與 MAVLink 通訊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DADE2"/>
                </a:solidFill>
              </a:rPr>
              <a:t>背景執行緒 · fix_type 判斷 · Home GPS 備援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3200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AAAAAA"/>
                </a:solidFill>
              </a:rPr>
              <a:t>09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</a:rPr>
              <a:t>無人機雙目視覺事件式告警回傳系統 · NTHU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143000"/>
            <a:ext cx="5303520" cy="5120640"/>
          </a:xfrm>
          <a:prstGeom prst="rect">
            <a:avLst/>
          </a:prstGeom>
          <a:solidFill>
            <a:srgbClr val="16213E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1887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7AE60"/>
                </a:solidFill>
              </a:rPr>
              <a:t>MAVLink 通訊架構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6459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AE60"/>
                </a:solidFill>
              </a:rPr>
              <a:t>連線方式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164592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/dev/ttyACM1  Baud 115200  ArduPilot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208483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AE60"/>
                </a:solidFill>
              </a:rPr>
              <a:t>訊息類型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208483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GLOBAL_POSITION_INT  (lat/lon/alt × 1e-7)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52374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AE60"/>
                </a:solidFill>
              </a:rPr>
              <a:t>         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2523744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GPS_RAW_INT           (fix_type 0–6)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296265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AE60"/>
                </a:solidFill>
              </a:rPr>
              <a:t>讀取架構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2962656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獨立背景 daemon Thread  不阻塞推論主迴圈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340156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AE60"/>
                </a:solidFill>
              </a:rPr>
              <a:t>斷線恢復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3401568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try/except → sleep(5) → 自動重連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384048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AE60"/>
                </a:solidFill>
              </a:rPr>
              <a:t>GPS 快取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65960" y="384048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_gps_cache dict  含 fix_type + source 欄位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427939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AE60"/>
                </a:solidFill>
              </a:rPr>
              <a:t>精度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5960" y="427939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單頻 GPS ±3–5m  3D Fix (fix_type=3) 有效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806440" y="1143000"/>
            <a:ext cx="6126480" cy="5120640"/>
          </a:xfrm>
          <a:prstGeom prst="rect">
            <a:avLst/>
          </a:prstGeom>
          <a:solidFill>
            <a:srgbClr val="16213E"/>
          </a:solidFill>
          <a:ln w="12700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0" y="118872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DADE2"/>
                </a:solidFill>
              </a:rPr>
              <a:t>GPS fix_type 判斷邏輯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43600" y="1691640"/>
            <a:ext cx="5852160" cy="475488"/>
          </a:xfrm>
          <a:prstGeom prst="rect">
            <a:avLst/>
          </a:prstGeom>
          <a:solidFill>
            <a:srgbClr val="0D1A2E"/>
          </a:solidFill>
          <a:ln w="1016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53328" y="1783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94560"/>
                </a:solidFill>
              </a:rPr>
              <a:t>fix_type 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178308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無 GPS 定位  → 回傳 Home GPS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2258568"/>
            <a:ext cx="5852160" cy="475488"/>
          </a:xfrm>
          <a:prstGeom prst="rect">
            <a:avLst/>
          </a:prstGeom>
          <a:solidFill>
            <a:srgbClr val="0D1A2E"/>
          </a:solidFill>
          <a:ln w="1016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53328" y="235000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94560"/>
                </a:solidFill>
              </a:rPr>
              <a:t>fix_type 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2350008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Dead Reckoning  → 回傳 Home GPS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0" y="2825496"/>
            <a:ext cx="5852160" cy="475488"/>
          </a:xfrm>
          <a:prstGeom prst="rect">
            <a:avLst/>
          </a:prstGeom>
          <a:solidFill>
            <a:srgbClr val="0D1A2E"/>
          </a:solidFill>
          <a:ln w="1016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53328" y="291693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AE60"/>
                </a:solidFill>
              </a:rPr>
              <a:t>fix_type 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2916936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2D Fix  (lat/lon)  → 使用實際 GPS ✅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0" y="3392424"/>
            <a:ext cx="5852160" cy="475488"/>
          </a:xfrm>
          <a:prstGeom prst="rect">
            <a:avLst/>
          </a:prstGeom>
          <a:solidFill>
            <a:srgbClr val="0D1A2E"/>
          </a:solidFill>
          <a:ln w="1016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53328" y="34838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AE60"/>
                </a:solidFill>
              </a:rPr>
              <a:t>fix_type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23760" y="3483864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3D Fix  (lat/lon/alt)  → 使用實際 GPS ✅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0" y="4069080"/>
            <a:ext cx="5852160" cy="1143000"/>
          </a:xfrm>
          <a:prstGeom prst="rect">
            <a:avLst/>
          </a:prstGeom>
          <a:solidFill>
            <a:srgbClr val="1A2010"/>
          </a:solidFill>
          <a:ln w="1016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53328" y="411480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AE60"/>
                </a:solidFill>
              </a:rPr>
              <a:t>Home GPS 備援機制（室內測試）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53328" y="4462272"/>
            <a:ext cx="5669280" cy="704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預設位置：國立清華大學光復路二段 101 號，新竹市
座標：lat=24.7968, lon=120.9961, alt=75m
Dashboard 自動顯示地名 + Google Maps 連結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0058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雙相機拼接與視覺化設計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DADE2"/>
                </a:solidFill>
              </a:rPr>
              <a:t>fuse_frames() · Detection Overlay · Evidence 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3200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AAAAAA"/>
                </a:solidFill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</a:rPr>
              <a:t>無人機雙目視覺事件式告警回傳系統 · NTHU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143000"/>
            <a:ext cx="5394960" cy="3017520"/>
          </a:xfrm>
          <a:prstGeom prst="rect">
            <a:avLst/>
          </a:prstGeom>
          <a:solidFill>
            <a:srgbClr val="16213E"/>
          </a:solidFill>
          <a:ln w="12700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188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DADE2"/>
                </a:solidFill>
              </a:rPr>
              <a:t>雙相機拼接輸出（1284 × 480）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600200"/>
            <a:ext cx="2423160" cy="1691640"/>
          </a:xfrm>
          <a:prstGeom prst="rect">
            <a:avLst/>
          </a:prstGeom>
          <a:solidFill>
            <a:srgbClr val="0D2035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600200"/>
            <a:ext cx="2423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27AE60"/>
                </a:solidFill>
              </a:rPr>
              <a:t>CAM-A (d435_a)
640×480 → 等高 resize
前向廣角
[person:0.98 ✅]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07792" y="1600200"/>
            <a:ext cx="73152" cy="1691640"/>
          </a:xfrm>
          <a:prstGeom prst="rect">
            <a:avLst/>
          </a:prstGeom>
          <a:solidFill>
            <a:srgbClr val="AAAA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63240" y="1600200"/>
            <a:ext cx="2423160" cy="1691640"/>
          </a:xfrm>
          <a:prstGeom prst="rect">
            <a:avLst/>
          </a:prstGeom>
          <a:solidFill>
            <a:srgbClr val="1A1010"/>
          </a:solidFill>
          <a:ln w="1270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63240" y="1600200"/>
            <a:ext cx="2423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E94560"/>
                </a:solidFill>
              </a:rPr>
              <a:t>CAM-B (d435_b)
640×480 → 等高 resize
側向/後向
[fire:0.94 ✅]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34290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DADE2"/>
                </a:solidFill>
              </a:rPr>
              <a:t>◆ mask overlay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429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</a:rPr>
              <a:t>目標區域半透明著色  green=person / red=fire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381304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DADE2"/>
                </a:solidFill>
              </a:rPr>
              <a:t>◆ bbox rectangle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38130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</a:rPr>
              <a:t>偵測框 + label + score 文字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197096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DADE2"/>
                </a:solidFill>
              </a:rPr>
              <a:t>◆ 相機標籤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419709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</a:rPr>
              <a:t>CAM-A(d435_a) / CAM-B(d435_b) 左上角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581144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DADE2"/>
                </a:solidFill>
              </a:rPr>
              <a:t>◆ 分隔線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458114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</a:rPr>
              <a:t>4px 灰色垂直分隔線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1143000"/>
            <a:ext cx="6035040" cy="5120640"/>
          </a:xfrm>
          <a:prstGeom prst="rect">
            <a:avLst/>
          </a:prstGeom>
          <a:solidFill>
            <a:srgbClr val="16213E"/>
          </a:solidFill>
          <a:ln w="127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80760" y="1188720"/>
            <a:ext cx="5852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C40F"/>
                </a:solidFill>
              </a:rPr>
              <a:t>傳輸圖像說明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1600200"/>
            <a:ext cx="5852160" cy="2103120"/>
          </a:xfrm>
          <a:prstGeom prst="rect">
            <a:avLst/>
          </a:prstGeom>
          <a:solidFill>
            <a:srgbClr val="1A1E10"/>
          </a:solidFill>
          <a:ln w="12700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169164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DADE2"/>
                </a:solidFill>
              </a:rPr>
              <a:t>thumb.webp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205740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ADE2"/>
                </a:solidFill>
              </a:rPr>
              <a:t>WebP Q60  ·  320×240 px  ·  ~9 KB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2377440"/>
            <a:ext cx="5577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</a:rPr>
              <a:t>全景拼接縮圖  ·  快速預覽用
包含雙相機視角與所有偵測框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035040" y="3886200"/>
            <a:ext cx="5852160" cy="2103120"/>
          </a:xfrm>
          <a:prstGeom prst="rect">
            <a:avLst/>
          </a:prstGeom>
          <a:solidFill>
            <a:srgbClr val="1A1E10"/>
          </a:solidFill>
          <a:ln w="127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72200" y="3977639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1C40F"/>
                </a:solidFill>
              </a:rPr>
              <a:t>evidence.webp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4343400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DADE2"/>
                </a:solidFill>
              </a:rPr>
              <a:t>WebP Q75  ·  原始尺寸  ·  ~48 KB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4663440"/>
            <a:ext cx="5577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</a:rPr>
              <a:t>雙相機全景 + SAM3 Mask overlay
所有偵測框標籤 (bbox 覆蓋&gt;85% 跳過重繪)
為 Dashboard 主要顯示圖像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" y="4434840"/>
            <a:ext cx="5394960" cy="1371600"/>
          </a:xfrm>
          <a:prstGeom prst="rect">
            <a:avLst/>
          </a:prstGeom>
          <a:solidFill>
            <a:srgbClr val="1A1A10"/>
          </a:solidFill>
          <a:ln w="1016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44805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1C40F"/>
                </a:solidFill>
              </a:rPr>
              <a:t>Note 欄位格式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482803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camA=[person:0.99, person:0.98] camB=[fire:0.94, person:0.92] sm=tracking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51663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AAAAAA"/>
                </a:solidFill>
              </a:rPr>
              <a:t>各相機偵測結果摘要（依信心分數降排）+ 當前狀態機狀態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0058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Hub 地面站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DADE2"/>
                </a:solidFill>
              </a:rPr>
              <a:t>Flask REST API · 自動刷新 · 地名解析 · 點圖開原圖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3200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AAAAAA"/>
                </a:solidFill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</a:rPr>
              <a:t>無人機雙目視覺事件式告警回傳系統 · NTHU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143000"/>
            <a:ext cx="3931920" cy="5120640"/>
          </a:xfrm>
          <a:prstGeom prst="rect">
            <a:avLst/>
          </a:prstGeom>
          <a:solidFill>
            <a:srgbClr val="16213E"/>
          </a:solidFill>
          <a:ln w="12700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1887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DADE2"/>
                </a:solidFill>
              </a:rPr>
              <a:t>REST API 端點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645920"/>
            <a:ext cx="3566160" cy="804672"/>
          </a:xfrm>
          <a:prstGeom prst="rect">
            <a:avLst/>
          </a:prstGeom>
          <a:solidFill>
            <a:srgbClr val="0D1E2E"/>
          </a:solidFill>
          <a:ln w="635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645920"/>
            <a:ext cx="502920" cy="80467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1874519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POST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170992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94560"/>
                </a:solidFill>
              </a:rPr>
              <a:t>/api/v1/alerts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039112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AAAAA"/>
                </a:solidFill>
              </a:rPr>
              <a:t>接收告警：Token 驗證 → 存 meta.json
+ thumb.webp + evidence.webp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578608"/>
            <a:ext cx="3566160" cy="804672"/>
          </a:xfrm>
          <a:prstGeom prst="rect">
            <a:avLst/>
          </a:prstGeom>
          <a:solidFill>
            <a:srgbClr val="0D1E2E"/>
          </a:solidFill>
          <a:ln w="63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578608"/>
            <a:ext cx="502920" cy="8046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2807208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264261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</a:rPr>
              <a:t>/api/v1/pull_requests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2971800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AAAAA"/>
                </a:solidFill>
              </a:rPr>
              <a:t>Reachback 查詢（保留擴充用）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511296"/>
            <a:ext cx="3566160" cy="804672"/>
          </a:xfrm>
          <a:prstGeom prst="rect">
            <a:avLst/>
          </a:prstGeom>
          <a:solidFill>
            <a:srgbClr val="0D1E2E"/>
          </a:solidFill>
          <a:ln w="63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3511296"/>
            <a:ext cx="502920" cy="8046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3739896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57530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</a:rPr>
              <a:t>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3904488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AAAAA"/>
                </a:solidFill>
              </a:rPr>
              <a:t>Web Dashboard 自動 10s 刷新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443984"/>
            <a:ext cx="3566160" cy="804672"/>
          </a:xfrm>
          <a:prstGeom prst="rect">
            <a:avLst/>
          </a:prstGeom>
          <a:solidFill>
            <a:srgbClr val="0D1E2E"/>
          </a:solidFill>
          <a:ln w="63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443984"/>
            <a:ext cx="502920" cy="80467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4672584"/>
            <a:ext cx="502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</a:rPr>
              <a:t>GET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" y="450799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7AE60"/>
                </a:solidFill>
              </a:rPr>
              <a:t>/events/&lt;id&gt;/&lt;f&gt;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4837176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AAAAA"/>
                </a:solidFill>
              </a:rPr>
              <a:t>靜態圖片直接讀取服務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0" y="1143000"/>
            <a:ext cx="7589520" cy="5120640"/>
          </a:xfrm>
          <a:prstGeom prst="rect">
            <a:avLst/>
          </a:prstGeom>
          <a:solidFill>
            <a:srgbClr val="16213E"/>
          </a:solidFill>
          <a:ln w="127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6280" y="118872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C40F"/>
                </a:solidFill>
              </a:rPr>
              <a:t>Dashboard 功能特色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26280" y="1645920"/>
            <a:ext cx="7315200" cy="841248"/>
          </a:xfrm>
          <a:prstGeom prst="rect">
            <a:avLst/>
          </a:prstGeom>
          <a:solidFill>
            <a:srgbClr val="141A10"/>
          </a:solidFill>
          <a:ln w="635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17720" y="1700784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94560"/>
                </a:solidFill>
              </a:rPr>
              <a:t>◆ DETECTION / FIRE 標題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17720" y="1993392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AAAAAA"/>
                </a:solidFill>
              </a:rPr>
              <a:t>從 Note 欄解析最高優先標籤
fire &gt; smoke &gt; person  ·  顏色編碼 red/gray/green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26280" y="2587752"/>
            <a:ext cx="7315200" cy="841248"/>
          </a:xfrm>
          <a:prstGeom prst="rect">
            <a:avLst/>
          </a:prstGeom>
          <a:solidFill>
            <a:srgbClr val="141A10"/>
          </a:solidFill>
          <a:ln w="63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17720" y="2642616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7AE60"/>
                </a:solidFill>
              </a:rPr>
              <a:t>◆ GPS 地名解析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17720" y="293522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AAAAAA"/>
                </a:solidFill>
              </a:rPr>
              <a:t>座標對照 → 自動顯示中文地名
國立清華大學/合歡山等  +  Google Maps 超連結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26280" y="3529584"/>
            <a:ext cx="7315200" cy="841248"/>
          </a:xfrm>
          <a:prstGeom prst="rect">
            <a:avLst/>
          </a:prstGeom>
          <a:solidFill>
            <a:srgbClr val="141A10"/>
          </a:solidFill>
          <a:ln w="63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17720" y="3584448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1C40F"/>
                </a:solidFill>
              </a:rPr>
              <a:t>◆ 全幅偵測圖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17720" y="3877056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AAAAAA"/>
                </a:solidFill>
              </a:rPr>
              <a:t>evidence.webp 全寬顯示（最大 960px）
點圖開新分頁顯示原始解析度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26280" y="4471416"/>
            <a:ext cx="7315200" cy="841248"/>
          </a:xfrm>
          <a:prstGeom prst="rect">
            <a:avLst/>
          </a:prstGeom>
          <a:solidFill>
            <a:srgbClr val="141A10"/>
          </a:solidFill>
          <a:ln w="6350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17720" y="4526280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DADE2"/>
                </a:solidFill>
              </a:rPr>
              <a:t>◆ 事件排序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17720" y="4818888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AAAAAA"/>
                </a:solidFill>
              </a:rPr>
              <a:t>最新事件在最上方  ·  最多顯示 50 筆
hub_events/ 目錄長期保存所有事件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26280" y="5413248"/>
            <a:ext cx="7315200" cy="841248"/>
          </a:xfrm>
          <a:prstGeom prst="rect">
            <a:avLst/>
          </a:prstGeom>
          <a:solidFill>
            <a:srgbClr val="141A10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617720" y="5468112"/>
            <a:ext cx="7132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AAAAA"/>
                </a:solidFill>
              </a:rPr>
              <a:t>◆ 自動刷新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617720" y="576072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AAAAAA"/>
                </a:solidFill>
              </a:rPr>
              <a:t>&lt;meta http-equiv=refresh content=10&gt;
無需手動重載即可看到最新事件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0058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離線容錯機制與系統安全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DADE2"/>
                </a:solidFill>
              </a:rPr>
              <a:t>queue/ 本機備份 · Token 認證 · MAVLink 斷線重連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3200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AAAAAA"/>
                </a:solidFill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</a:rPr>
              <a:t>無人機雙目視覺事件式告警回傳系統 · NTHU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143000"/>
            <a:ext cx="5486400" cy="5120640"/>
          </a:xfrm>
          <a:prstGeom prst="rect">
            <a:avLst/>
          </a:prstGeom>
          <a:solidFill>
            <a:srgbClr val="16213E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18872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7E22"/>
                </a:solidFill>
              </a:rPr>
              <a:t>離線容錯機制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645920"/>
            <a:ext cx="5303520" cy="1051560"/>
          </a:xfrm>
          <a:prstGeom prst="rect">
            <a:avLst/>
          </a:prstGeom>
          <a:solidFill>
            <a:srgbClr val="2A1805"/>
          </a:solidFill>
          <a:ln w="63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709928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7E22"/>
                </a:solidFill>
              </a:rPr>
              <a:t>◆ 觸發條件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029968"/>
            <a:ext cx="5120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POST 失敗（VPN 斷線 / Hub 離線）或
HTTP status ≠ 200 時自動觸發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816352"/>
            <a:ext cx="5303520" cy="1051560"/>
          </a:xfrm>
          <a:prstGeom prst="rect">
            <a:avLst/>
          </a:prstGeom>
          <a:solidFill>
            <a:srgbClr val="2A1805"/>
          </a:solidFill>
          <a:ln w="63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880360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7E22"/>
                </a:solidFill>
              </a:rPr>
              <a:t>◆ 儲存內容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200400"/>
            <a:ext cx="5120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queue/&lt;event_id&gt;/meta.json
queue/&lt;event_id&gt;/thumb.webp
queue/&lt;event_id&gt;/evidence.webp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3986784"/>
            <a:ext cx="5303520" cy="1051560"/>
          </a:xfrm>
          <a:prstGeom prst="rect">
            <a:avLst/>
          </a:prstGeom>
          <a:solidFill>
            <a:srgbClr val="2A1805"/>
          </a:solidFill>
          <a:ln w="63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4050792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7E22"/>
                </a:solidFill>
              </a:rPr>
              <a:t>◆ 重送機制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4370832"/>
            <a:ext cx="5120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目前為手動重送（計劃實作自動重試）
網路恢復後可 rsync 或 POST replay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5157216"/>
            <a:ext cx="5303520" cy="1051560"/>
          </a:xfrm>
          <a:prstGeom prst="rect">
            <a:avLst/>
          </a:prstGeom>
          <a:solidFill>
            <a:srgbClr val="2A1805"/>
          </a:solidFill>
          <a:ln w="63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5221224"/>
            <a:ext cx="5120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7E22"/>
                </a:solidFill>
              </a:rPr>
              <a:t>◆ 本地監控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5541264"/>
            <a:ext cx="51206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queue/ 目錄可用 ls -la 確認積壓量
每筆約 21–66 KB，32GB SD 可存約 50 萬筆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1143000"/>
            <a:ext cx="5897880" cy="5120640"/>
          </a:xfrm>
          <a:prstGeom prst="rect">
            <a:avLst/>
          </a:prstGeom>
          <a:solidFill>
            <a:srgbClr val="16213E"/>
          </a:solidFill>
          <a:ln w="127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118872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1C40F"/>
                </a:solidFill>
              </a:rPr>
              <a:t>系統安全機制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1645920"/>
            <a:ext cx="5715000" cy="850392"/>
          </a:xfrm>
          <a:prstGeom prst="rect">
            <a:avLst/>
          </a:prstGeom>
          <a:solidFill>
            <a:srgbClr val="1E1A06"/>
          </a:solidFill>
          <a:ln w="63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170078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1C40F"/>
                </a:solidFill>
              </a:rPr>
              <a:t>◆ API Token 認證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20116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每次 POST 需帶 X-Auth-Token Header
不符則回 401 Unauthorized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2606040"/>
            <a:ext cx="5715000" cy="850392"/>
          </a:xfrm>
          <a:prstGeom prst="rect">
            <a:avLst/>
          </a:prstGeom>
          <a:solidFill>
            <a:srgbClr val="1E1A06"/>
          </a:solidFill>
          <a:ln w="63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17920" y="26609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1C40F"/>
                </a:solidFill>
              </a:rPr>
              <a:t>◆ WireGuard 加密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2971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Curve25519 / ChaCha20-Poly1305
VPN 隧道端對端加密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6480" y="3566160"/>
            <a:ext cx="5715000" cy="850392"/>
          </a:xfrm>
          <a:prstGeom prst="rect">
            <a:avLst/>
          </a:prstGeom>
          <a:solidFill>
            <a:srgbClr val="1E1A06"/>
          </a:solidFill>
          <a:ln w="63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362102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1C40F"/>
                </a:solidFill>
              </a:rPr>
              <a:t>◆ Docker 隔離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3931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--runtime=nvidia --privileged
容器內獨立 venv 不影響宿主系統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4526280"/>
            <a:ext cx="5715000" cy="850392"/>
          </a:xfrm>
          <a:prstGeom prst="rect">
            <a:avLst/>
          </a:prstGeom>
          <a:solidFill>
            <a:srgbClr val="1E1A06"/>
          </a:solidFill>
          <a:ln w="63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17920" y="458114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1C40F"/>
                </a:solidFill>
              </a:rPr>
              <a:t>◆ MAVLink 斷線重連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4892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背景執行緒 try/except → sleep(5)
自動重新建立 MAVLink 連線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6480" y="5486400"/>
            <a:ext cx="5715000" cy="850392"/>
          </a:xfrm>
          <a:prstGeom prst="rect">
            <a:avLst/>
          </a:prstGeom>
          <a:solidFill>
            <a:srgbClr val="1E1A06"/>
          </a:solidFill>
          <a:ln w="63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0" y="554126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1C40F"/>
                </a:solidFill>
              </a:rPr>
              <a:t>◆ GPS 備援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7920" y="5852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fix_type &lt; 2 → Home GPS
保證告警 meta 中永遠有座標資訊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0058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系統驗證結果（2026-02-25 室內測試）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DADE2"/>
                </a:solidFill>
              </a:rPr>
              <a:t>SAM3 ✅  MAVLink ✅  雙 D435 ✅  Hub Dashboard 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3200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AAAAAA"/>
                </a:solidFill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</a:rPr>
              <a:t>無人機雙目視覺事件式告警回傳系統 · NTHU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143000"/>
            <a:ext cx="11704320" cy="2606040"/>
          </a:xfrm>
          <a:prstGeom prst="rect">
            <a:avLst/>
          </a:prstGeom>
          <a:solidFill>
            <a:srgbClr val="16213E"/>
          </a:solidFill>
          <a:ln w="10160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188720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DADE2"/>
                </a:solidFill>
              </a:rPr>
              <a:t>系統啟動序列 Log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627632"/>
            <a:ext cx="11430000" cy="310896"/>
          </a:xfrm>
          <a:prstGeom prst="rect">
            <a:avLst/>
          </a:prstGeom>
          <a:solidFill>
            <a:srgbClr val="08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655064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7AE60"/>
                </a:solidFill>
              </a:rPr>
              <a:t>[SAM3] ✅ 模型載入完成  3.45 GB  CUDA fp16  device=cuda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956816"/>
            <a:ext cx="11430000" cy="310896"/>
          </a:xfrm>
          <a:prstGeom prst="rect">
            <a:avLst/>
          </a:prstGeom>
          <a:solidFill>
            <a:srgbClr val="08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984248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7AE60"/>
                </a:solidFill>
              </a:rPr>
              <a:t>[MAV]  ✅ Heartbeat OK  sysid=1  /dev/ttyACM1 baud=115200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286000"/>
            <a:ext cx="11430000" cy="310896"/>
          </a:xfrm>
          <a:prstGeom prst="rect">
            <a:avLst/>
          </a:prstGeom>
          <a:solidFill>
            <a:srgbClr val="08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31343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7AE60"/>
                </a:solidFill>
              </a:rPr>
              <a:t>[RS]   ✅ 偵測到 2 顆 RealSense: ['332522075298', '332522073133']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615184"/>
            <a:ext cx="11430000" cy="310896"/>
          </a:xfrm>
          <a:prstGeom prst="rect">
            <a:avLst/>
          </a:prstGeom>
          <a:solidFill>
            <a:srgbClr val="08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642615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27AE60"/>
                </a:solidFill>
              </a:rPr>
              <a:t>[RS]   ✅ 相機開啟完成，開始推論迴圈（2 Hz）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944368"/>
            <a:ext cx="11430000" cy="310896"/>
          </a:xfrm>
          <a:prstGeom prst="rect">
            <a:avLst/>
          </a:prstGeom>
          <a:solidFill>
            <a:srgbClr val="08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2971799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E94560"/>
                </a:solidFill>
              </a:rPr>
              <a:t>[EVENT] 🚨 label=fire  level=tracking  event_id=fire_1771995086333  GPS=(24.7968,120.9961,75.0m)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273551"/>
            <a:ext cx="11430000" cy="310896"/>
          </a:xfrm>
          <a:prstGeom prst="rect">
            <a:avLst/>
          </a:prstGeom>
          <a:solidFill>
            <a:srgbClr val="08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3300983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1C40F"/>
                </a:solidFill>
              </a:rPr>
              <a:t>[send_alert] ✅ 成功！status=200  耗時=0.27s  thumb=9.7KB  evid=48.8KB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3977639"/>
            <a:ext cx="5486400" cy="2194560"/>
          </a:xfrm>
          <a:prstGeom prst="rect">
            <a:avLst/>
          </a:prstGeom>
          <a:solidFill>
            <a:srgbClr val="16213E"/>
          </a:solidFill>
          <a:ln w="127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02336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C40F"/>
                </a:solidFill>
              </a:rPr>
              <a:t>實測效能數據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44348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DADE2"/>
                </a:solidFill>
              </a:rPr>
              <a:t>SAM3 模型載入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4434840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~52 秒（首次下載 3.45GB + 初始化）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476402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DADE2"/>
                </a:solidFill>
              </a:rPr>
              <a:t>POST 耗時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14600" y="4764024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0.22–0.33 秒（含 WireGuard 230ms）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509320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DADE2"/>
                </a:solidFill>
              </a:rPr>
              <a:t>thumb 大小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14600" y="5093208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9.4–9.7 KB（320×240 WebP Q60）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542239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DADE2"/>
                </a:solidFill>
              </a:rPr>
              <a:t>evidence 大小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14600" y="5422392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47.4–49.5 KB（全景 WebP Q75）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5751576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DADE2"/>
                </a:solidFill>
              </a:rPr>
              <a:t>信心分數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14600" y="5751576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fire 0.94–0.97 / person 0.92–0.99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35040" y="3977639"/>
            <a:ext cx="5897880" cy="2194560"/>
          </a:xfrm>
          <a:prstGeom prst="rect">
            <a:avLst/>
          </a:prstGeom>
          <a:solidFill>
            <a:srgbClr val="16213E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72200" y="402336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7AE60"/>
                </a:solidFill>
              </a:rPr>
              <a:t>Dashboard 驗證（截圖）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72200" y="443484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DETECTION FIRE  /  DETECTION PERSON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4754879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Confidence: 0.9736 / 0.9858 / 0.9893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2200" y="5074919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GPS: lat=24.7968 lon=120.9961 alt=75.0m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200" y="5394959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地名：國立清華大學，新竹市東區光復路二段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72200" y="5714999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Note: camA=[person:0.99] camB=[fire:0.94, person:0.92]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72200" y="6035039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sm=tracking  ·  Camera: dual  ·  ROI: [0,0,1284,480]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0058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優化方向與未來工作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DADE2"/>
                </a:solidFill>
              </a:rPr>
              <a:t>推論加速 · 傳輸優化 · 偵測精度 · 定位增強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3200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AAAAAA"/>
                </a:solidFill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</a:rPr>
              <a:t>無人機雙目視覺事件式告警回傳系統 · NTHU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1097280"/>
            <a:ext cx="2834640" cy="5212080"/>
          </a:xfrm>
          <a:prstGeom prst="rect">
            <a:avLst/>
          </a:prstGeom>
          <a:solidFill>
            <a:srgbClr val="16213E"/>
          </a:solidFill>
          <a:ln w="1270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2880" y="1097280"/>
            <a:ext cx="2834640" cy="384048"/>
          </a:xfrm>
          <a:prstGeom prst="rect">
            <a:avLst/>
          </a:prstGeom>
          <a:solidFill>
            <a:srgbClr val="74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" y="11155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</a:rPr>
              <a:t>🚀 推論速度優化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600200"/>
            <a:ext cx="2651760" cy="1024128"/>
          </a:xfrm>
          <a:prstGeom prst="rect">
            <a:avLst/>
          </a:prstGeom>
          <a:solidFill>
            <a:srgbClr val="101828"/>
          </a:solidFill>
          <a:ln w="635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655064"/>
            <a:ext cx="2487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94560"/>
                </a:solidFill>
              </a:rPr>
              <a:t>TensorRT INT8 量化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" y="1984248"/>
            <a:ext cx="248716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AAAAA"/>
                </a:solidFill>
              </a:rPr>
              <a:t>torch2trt  ·  預期 3–5× 加速（Thor GPU 原生支援）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697480"/>
            <a:ext cx="2651760" cy="1024128"/>
          </a:xfrm>
          <a:prstGeom prst="rect">
            <a:avLst/>
          </a:prstGeom>
          <a:solidFill>
            <a:srgbClr val="101828"/>
          </a:solidFill>
          <a:ln w="635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" y="2752344"/>
            <a:ext cx="2487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94560"/>
                </a:solidFill>
              </a:rPr>
              <a:t>縮小輸入解析度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" y="3081528"/>
            <a:ext cx="248716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AAAAA"/>
                </a:solidFill>
              </a:rPr>
              <a:t>1008→512 px  ·  推論時間 -60%  ·  精度略降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794760"/>
            <a:ext cx="2651760" cy="1024128"/>
          </a:xfrm>
          <a:prstGeom prst="rect">
            <a:avLst/>
          </a:prstGeom>
          <a:solidFill>
            <a:srgbClr val="101828"/>
          </a:solidFill>
          <a:ln w="635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" y="3849624"/>
            <a:ext cx="2487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94560"/>
                </a:solidFill>
              </a:rPr>
              <a:t>非同步雙相機推論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" y="4178808"/>
            <a:ext cx="248716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AAAAA"/>
                </a:solidFill>
              </a:rPr>
              <a:t>A/B 各開獨立執行緒  ·  延遲降低 50%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892040"/>
            <a:ext cx="2651760" cy="1024128"/>
          </a:xfrm>
          <a:prstGeom prst="rect">
            <a:avLst/>
          </a:prstGeom>
          <a:solidFill>
            <a:srgbClr val="101828"/>
          </a:solidFill>
          <a:ln w="635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" y="4946904"/>
            <a:ext cx="2487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94560"/>
                </a:solidFill>
              </a:rPr>
              <a:t>提升推論頻率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" y="5276088"/>
            <a:ext cx="248716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AAAAA"/>
                </a:solidFill>
              </a:rPr>
              <a:t>0.5s→0.25s (4Hz)  ·  響應更快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54680" y="1097280"/>
            <a:ext cx="2834640" cy="5212080"/>
          </a:xfrm>
          <a:prstGeom prst="rect">
            <a:avLst/>
          </a:prstGeom>
          <a:solidFill>
            <a:srgbClr val="16213E"/>
          </a:solidFill>
          <a:ln w="12700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154680" y="1097280"/>
            <a:ext cx="2834640" cy="384048"/>
          </a:xfrm>
          <a:prstGeom prst="rect">
            <a:avLst/>
          </a:prstGeom>
          <a:solidFill>
            <a:srgbClr val="2E56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0" y="11155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</a:rPr>
              <a:t>📡 傳輸頻寬優化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46120" y="1600200"/>
            <a:ext cx="2651760" cy="1024128"/>
          </a:xfrm>
          <a:prstGeom prst="rect">
            <a:avLst/>
          </a:prstGeom>
          <a:solidFill>
            <a:srgbClr val="101828"/>
          </a:solidFill>
          <a:ln w="6350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19272" y="1655064"/>
            <a:ext cx="2487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DADE2"/>
                </a:solidFill>
              </a:rPr>
              <a:t>動態 WebP 品質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19272" y="1984248"/>
            <a:ext cx="248716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AAAAA"/>
                </a:solidFill>
              </a:rPr>
              <a:t>依頻寬自動調 Q10–Q75  ·  衛星環境壓到 5KB/次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46120" y="2697480"/>
            <a:ext cx="2651760" cy="1024128"/>
          </a:xfrm>
          <a:prstGeom prst="rect">
            <a:avLst/>
          </a:prstGeom>
          <a:solidFill>
            <a:srgbClr val="101828"/>
          </a:solidFill>
          <a:ln w="6350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19272" y="2752344"/>
            <a:ext cx="2487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DADE2"/>
                </a:solidFill>
              </a:rPr>
              <a:t>差異幀傳輸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19272" y="3081528"/>
            <a:ext cx="248716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AAAAA"/>
                </a:solidFill>
              </a:rPr>
              <a:t>只傳與前次事件的差異區域  ·  減少 40–70%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46120" y="3794760"/>
            <a:ext cx="2651760" cy="1024128"/>
          </a:xfrm>
          <a:prstGeom prst="rect">
            <a:avLst/>
          </a:prstGeom>
          <a:solidFill>
            <a:srgbClr val="101828"/>
          </a:solidFill>
          <a:ln w="6350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19272" y="3849624"/>
            <a:ext cx="2487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DADE2"/>
                </a:solidFill>
              </a:rPr>
              <a:t>事件等級分流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19272" y="4178808"/>
            <a:ext cx="248716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AAAAA"/>
                </a:solidFill>
              </a:rPr>
              <a:t>fire=高頻寬 / person=低頻寬  ·  資源優先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46120" y="4892040"/>
            <a:ext cx="2651760" cy="1024128"/>
          </a:xfrm>
          <a:prstGeom prst="rect">
            <a:avLst/>
          </a:prstGeom>
          <a:solidFill>
            <a:srgbClr val="101828"/>
          </a:solidFill>
          <a:ln w="6350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19272" y="4946904"/>
            <a:ext cx="2487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DADE2"/>
                </a:solidFill>
              </a:rPr>
              <a:t>SM_T_SEND 動態調整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19272" y="5276088"/>
            <a:ext cx="248716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AAAAA"/>
                </a:solidFill>
              </a:rPr>
              <a:t>依網路品質動態調整傳送間隔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26480" y="1097280"/>
            <a:ext cx="2834640" cy="5212080"/>
          </a:xfrm>
          <a:prstGeom prst="rect">
            <a:avLst/>
          </a:prstGeom>
          <a:solidFill>
            <a:srgbClr val="16213E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6480" y="1097280"/>
            <a:ext cx="2834640" cy="384048"/>
          </a:xfrm>
          <a:prstGeom prst="rect">
            <a:avLst/>
          </a:prstGeom>
          <a:solidFill>
            <a:srgbClr val="135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72200" y="11155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</a:rPr>
              <a:t>🎯 偵測精度優化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1600200"/>
            <a:ext cx="2651760" cy="1024128"/>
          </a:xfrm>
          <a:prstGeom prst="rect">
            <a:avLst/>
          </a:prstGeom>
          <a:solidFill>
            <a:srgbClr val="101828"/>
          </a:solidFill>
          <a:ln w="63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91072" y="1655064"/>
            <a:ext cx="2487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AE60"/>
                </a:solidFill>
              </a:rPr>
              <a:t>IoU 跨幀追蹤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91072" y="1984248"/>
            <a:ext cx="248716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AAAAA"/>
                </a:solidFill>
              </a:rPr>
              <a:t>SORT/ByteTrack  ·  更穩定 Tracking 狀態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2697480"/>
            <a:ext cx="2651760" cy="1024128"/>
          </a:xfrm>
          <a:prstGeom prst="rect">
            <a:avLst/>
          </a:prstGeom>
          <a:solidFill>
            <a:srgbClr val="101828"/>
          </a:solidFill>
          <a:ln w="63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91072" y="2752344"/>
            <a:ext cx="2487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AE60"/>
                </a:solidFill>
              </a:rPr>
              <a:t>D435 深度資訊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91072" y="3081528"/>
            <a:ext cx="248716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AAAAA"/>
                </a:solidFill>
              </a:rPr>
              <a:t>啟用深度流過濾近距離誤偵測目標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17920" y="3794760"/>
            <a:ext cx="2651760" cy="1024128"/>
          </a:xfrm>
          <a:prstGeom prst="rect">
            <a:avLst/>
          </a:prstGeom>
          <a:solidFill>
            <a:srgbClr val="101828"/>
          </a:solidFill>
          <a:ln w="63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91072" y="3849624"/>
            <a:ext cx="2487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AE60"/>
                </a:solidFill>
              </a:rPr>
              <a:t>分類別信心門檻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91072" y="4178808"/>
            <a:ext cx="248716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AAAAA"/>
                </a:solidFill>
              </a:rPr>
              <a:t>fire=0.5 / smoke=0.6 / person=0.4 獨立調整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17920" y="4892040"/>
            <a:ext cx="2651760" cy="1024128"/>
          </a:xfrm>
          <a:prstGeom prst="rect">
            <a:avLst/>
          </a:prstGeom>
          <a:solidFill>
            <a:srgbClr val="101828"/>
          </a:solidFill>
          <a:ln w="63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291072" y="4946904"/>
            <a:ext cx="2487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AE60"/>
                </a:solidFill>
              </a:rPr>
              <a:t>False Positive 分析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291072" y="5276088"/>
            <a:ext cx="248716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AAAAA"/>
                </a:solidFill>
              </a:rPr>
              <a:t>收集室外飛行誤報資料，調整 SM 參數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098280" y="1097280"/>
            <a:ext cx="2834640" cy="5212080"/>
          </a:xfrm>
          <a:prstGeom prst="rect">
            <a:avLst/>
          </a:prstGeom>
          <a:solidFill>
            <a:srgbClr val="16213E"/>
          </a:solidFill>
          <a:ln w="127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098280" y="1097280"/>
            <a:ext cx="2834640" cy="384048"/>
          </a:xfrm>
          <a:prstGeom prst="rect">
            <a:avLst/>
          </a:prstGeom>
          <a:solidFill>
            <a:srgbClr val="7862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44000" y="11155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</a:rPr>
              <a:t>📍 定位精度優化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189719" y="1600200"/>
            <a:ext cx="2651760" cy="1024128"/>
          </a:xfrm>
          <a:prstGeom prst="rect">
            <a:avLst/>
          </a:prstGeom>
          <a:solidFill>
            <a:srgbClr val="101828"/>
          </a:solidFill>
          <a:ln w="63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262872" y="1655064"/>
            <a:ext cx="2487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1C40F"/>
                </a:solidFill>
              </a:rPr>
              <a:t>RTK GPS 整合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262872" y="1984248"/>
            <a:ext cx="248716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AAAAA"/>
                </a:solidFill>
              </a:rPr>
              <a:t>搭配地面站 RTK 基站  ·  精度 &lt; 10 cm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189719" y="2697480"/>
            <a:ext cx="2651760" cy="1024128"/>
          </a:xfrm>
          <a:prstGeom prst="rect">
            <a:avLst/>
          </a:prstGeom>
          <a:solidFill>
            <a:srgbClr val="101828"/>
          </a:solidFill>
          <a:ln w="63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262872" y="2752344"/>
            <a:ext cx="2487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1C40F"/>
                </a:solidFill>
              </a:rPr>
              <a:t>氣壓計高度融合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262872" y="3081528"/>
            <a:ext cx="248716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AAAAA"/>
                </a:solidFill>
              </a:rPr>
              <a:t>無 GPS Fix 時用 BARO_ALT 補充高度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189719" y="3794760"/>
            <a:ext cx="2651760" cy="1024128"/>
          </a:xfrm>
          <a:prstGeom prst="rect">
            <a:avLst/>
          </a:prstGeom>
          <a:solidFill>
            <a:srgbClr val="101828"/>
          </a:solidFill>
          <a:ln w="63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262872" y="3849624"/>
            <a:ext cx="2487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1C40F"/>
                </a:solidFill>
              </a:rPr>
              <a:t>時間戳精確對齊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262872" y="4178808"/>
            <a:ext cx="248716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AAAAA"/>
                </a:solidFill>
              </a:rPr>
              <a:t>MAVLink 時間戳與系統時鐘 NTP 同步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189719" y="4892040"/>
            <a:ext cx="2651760" cy="1024128"/>
          </a:xfrm>
          <a:prstGeom prst="rect">
            <a:avLst/>
          </a:prstGeom>
          <a:solidFill>
            <a:srgbClr val="101828"/>
          </a:solidFill>
          <a:ln w="63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262872" y="4946904"/>
            <a:ext cx="2487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1C40F"/>
                </a:solidFill>
              </a:rPr>
              <a:t>geofence 告警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262872" y="5276088"/>
            <a:ext cx="2487168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AAAAA"/>
                </a:solidFill>
              </a:rPr>
              <a:t>設定禁飛區邊界自動告警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0058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程式碼結構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DADE2"/>
                </a:solidFill>
              </a:rPr>
              <a:t>uav_hub/ · 主程式 ~1000 行 · 模組化設計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3200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AAAAAA"/>
                </a:solidFill>
              </a:rPr>
              <a:t>15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</a:rPr>
              <a:t>無人機雙目視覺事件式告警回傳系統 · NTHU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143000"/>
            <a:ext cx="5120640" cy="5120640"/>
          </a:xfrm>
          <a:prstGeom prst="rect">
            <a:avLst/>
          </a:prstGeom>
          <a:solidFill>
            <a:srgbClr val="16213E"/>
          </a:solidFill>
          <a:ln w="12700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18872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DADE2"/>
                </a:solidFill>
              </a:rPr>
              <a:t>檔案結構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645920"/>
            <a:ext cx="4937760" cy="731520"/>
          </a:xfrm>
          <a:prstGeom prst="rect">
            <a:avLst/>
          </a:prstGeom>
          <a:solidFill>
            <a:srgbClr val="0D182E"/>
          </a:solidFill>
          <a:ln w="6350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691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DADE2"/>
                </a:solidFill>
              </a:rPr>
              <a:t>thor_dualcam_event_sender.py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169164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DADE2"/>
                </a:solidFill>
              </a:rPr>
              <a:t>主程式  ~1000 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199339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AAAAA"/>
                </a:solidFill>
              </a:rPr>
              <a:t>init_sam3() · _infer_sam3_real() · EventStateMachine
_mav_reader_thread() · run_realsense_mode() · _main_loop_body()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468880"/>
            <a:ext cx="4937760" cy="731520"/>
          </a:xfrm>
          <a:prstGeom prst="rect">
            <a:avLst/>
          </a:prstGeom>
          <a:solidFill>
            <a:srgbClr val="0D182E"/>
          </a:solidFill>
          <a:ln w="6350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25146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DADE2"/>
                </a:solidFill>
              </a:rPr>
              <a:t>thor_send_alert.py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51460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DADE2"/>
                </a:solidFill>
              </a:rPr>
              <a:t>傳輸函式庫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281635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AAAAA"/>
                </a:solidFill>
              </a:rPr>
              <a:t>send_alert() · make_thumb() · make_evidence()
build_meta() · save_to_queue()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291840"/>
            <a:ext cx="4937760" cy="731520"/>
          </a:xfrm>
          <a:prstGeom prst="rect">
            <a:avLst/>
          </a:prstGeom>
          <a:solidFill>
            <a:srgbClr val="0D182E"/>
          </a:solidFill>
          <a:ln w="63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3375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AE60"/>
                </a:solidFill>
              </a:rPr>
              <a:t>hub_server.py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33756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DADE2"/>
                </a:solidFill>
              </a:rPr>
              <a:t>Hub Flask 伺服器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63931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AAAAA"/>
                </a:solidFill>
              </a:rPr>
              <a:t>POST /api/v1/alerts · GET / Dashboard
_location_label() · _primary_display_label()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114800"/>
            <a:ext cx="4937760" cy="731520"/>
          </a:xfrm>
          <a:prstGeom prst="rect">
            <a:avLst/>
          </a:prstGeom>
          <a:solidFill>
            <a:srgbClr val="0D182E"/>
          </a:solidFill>
          <a:ln w="63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4160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1C40F"/>
                </a:solidFill>
              </a:rPr>
              <a:t>run_uav_alert.sh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0" y="416052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DADE2"/>
                </a:solidFill>
              </a:rPr>
              <a:t>Docker 一鍵啟動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446227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AAAAA"/>
                </a:solidFill>
              </a:rPr>
              <a:t>GPU 確認 · SERIAL_DEVICES 掃描
pymavlink auto-install · 參數透傳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4937760"/>
            <a:ext cx="4937760" cy="731520"/>
          </a:xfrm>
          <a:prstGeom prst="rect">
            <a:avLst/>
          </a:prstGeom>
          <a:solidFill>
            <a:srgbClr val="0D182E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4983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AAAAA"/>
                </a:solidFill>
              </a:rPr>
              <a:t>decord.py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498348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DADE2"/>
                </a:solidFill>
              </a:rPr>
              <a:t>SAM3 訓練依賴 stub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1480" y="528523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AAAAA"/>
                </a:solidFill>
              </a:rPr>
              <a:t>VideoReader/cpu() stub 繞過 ImportError
推論時不需要真實 decord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760720"/>
            <a:ext cx="4937760" cy="731520"/>
          </a:xfrm>
          <a:prstGeom prst="rect">
            <a:avLst/>
          </a:prstGeom>
          <a:solidFill>
            <a:srgbClr val="0D182E"/>
          </a:solidFill>
          <a:ln w="6350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58064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AAAAA"/>
                </a:solidFill>
              </a:rPr>
              <a:t>requirements.txt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580644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DADE2"/>
                </a:solidFill>
              </a:rPr>
              <a:t>依賴清單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610819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AAAAA"/>
                </a:solidFill>
              </a:rPr>
              <a:t>requests / Pillow / opencv-python / numpy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77840" y="1143000"/>
            <a:ext cx="6400800" cy="5120640"/>
          </a:xfrm>
          <a:prstGeom prst="rect">
            <a:avLst/>
          </a:prstGeom>
          <a:solidFill>
            <a:srgbClr val="16213E"/>
          </a:solidFill>
          <a:ln w="1270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15000" y="1188720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94560"/>
                </a:solidFill>
              </a:rPr>
              <a:t>thor_dualcam_event_sender.py 模組說明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0" y="1645920"/>
            <a:ext cx="6217920" cy="630936"/>
          </a:xfrm>
          <a:prstGeom prst="rect">
            <a:avLst/>
          </a:prstGeom>
          <a:solidFill>
            <a:srgbClr val="101422"/>
          </a:solidFill>
          <a:ln w="635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60720" y="169164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94560"/>
                </a:solidFill>
              </a:rPr>
              <a:t>init_sam3()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60720" y="1965960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AAAAA"/>
                </a:solidFill>
              </a:rPr>
              <a:t>SAM3 模型初始化
HF Token 登入 · bpe 路徑自動偵測 · CUDA 確認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0" y="2340864"/>
            <a:ext cx="6217920" cy="630936"/>
          </a:xfrm>
          <a:prstGeom prst="rect">
            <a:avLst/>
          </a:prstGeom>
          <a:solidFill>
            <a:srgbClr val="101422"/>
          </a:solidFill>
          <a:ln w="635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60720" y="238658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94560"/>
                </a:solidFill>
              </a:rPr>
              <a:t>_infer_sam3_real()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60720" y="2660904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AAAAA"/>
                </a:solidFill>
              </a:rPr>
              <a:t>實際 FP16 推論
set_image×1 → set_text_prompt×3 → 結果解析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669280" y="3035808"/>
            <a:ext cx="6217920" cy="630936"/>
          </a:xfrm>
          <a:prstGeom prst="rect">
            <a:avLst/>
          </a:prstGeom>
          <a:solidFill>
            <a:srgbClr val="101422"/>
          </a:solidFill>
          <a:ln w="63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60720" y="308152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1C40F"/>
                </a:solidFill>
              </a:rPr>
              <a:t>EventStateMachine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60720" y="3355848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AAAAA"/>
                </a:solidFill>
              </a:rPr>
              <a:t>per-label 5狀態 FSM
滑動視窗命中率計算 · 節流傳送控制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0" y="3730752"/>
            <a:ext cx="6217920" cy="630936"/>
          </a:xfrm>
          <a:prstGeom prst="rect">
            <a:avLst/>
          </a:prstGeom>
          <a:solidFill>
            <a:srgbClr val="101422"/>
          </a:solidFill>
          <a:ln w="63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60720" y="37764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7AE60"/>
                </a:solidFill>
              </a:rPr>
              <a:t>_mav_reader_thread()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60720" y="4050791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AAAAA"/>
                </a:solidFill>
              </a:rPr>
              <a:t>MAVLink 背景執行緒
GPS_RAW_INT/GLOBAL_POSITION_INT 快取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69280" y="4425696"/>
            <a:ext cx="6217920" cy="630936"/>
          </a:xfrm>
          <a:prstGeom prst="rect">
            <a:avLst/>
          </a:prstGeom>
          <a:solidFill>
            <a:srgbClr val="101422"/>
          </a:solidFill>
          <a:ln w="6350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760720" y="447141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DADE2"/>
                </a:solidFill>
              </a:rPr>
              <a:t>run_realsense_mode()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60720" y="4745736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AAAAA"/>
                </a:solidFill>
              </a:rPr>
              <a:t>pyrealsense2 雙相機主迴圈
序號自動偵測 · 3s 超時容錯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69280" y="5120640"/>
            <a:ext cx="6217920" cy="630936"/>
          </a:xfrm>
          <a:prstGeom prst="rect">
            <a:avLst/>
          </a:prstGeom>
          <a:solidFill>
            <a:srgbClr val="101422"/>
          </a:solidFill>
          <a:ln w="6350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760720" y="516635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DADE2"/>
                </a:solidFill>
              </a:rPr>
              <a:t>_main_loop_body()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60720" y="5440679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AAAAA"/>
                </a:solidFill>
              </a:rPr>
              <a:t>每 0.5s 核心邏輯
推論→FSM→拼接→GPS→POST→queue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669280" y="5815583"/>
            <a:ext cx="6217920" cy="630936"/>
          </a:xfrm>
          <a:prstGeom prst="rect">
            <a:avLst/>
          </a:prstGeom>
          <a:solidFill>
            <a:srgbClr val="101422"/>
          </a:solidFill>
          <a:ln w="6350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760720" y="5861303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5DADE2"/>
                </a:solidFill>
              </a:rPr>
              <a:t>fuse_frames()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760720" y="6135623"/>
            <a:ext cx="6035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AAAAAA"/>
                </a:solidFill>
              </a:rPr>
              <a:t>雙相機拼接 + Detection overlay
mask/bbox/label 繪製 · 480p 等高縮放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00584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總結與貢獻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66928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DADE2"/>
                </a:solidFill>
              </a:rPr>
              <a:t>研究成果 · 論文貢獻點 · 系統驗證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0" y="32004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AAAAAA"/>
                </a:solidFill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5624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AAAA"/>
                </a:solidFill>
              </a:rPr>
              <a:t>無人機雙目視覺事件式告警回傳系統 · NTHU ·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1143000"/>
            <a:ext cx="7315200" cy="5120640"/>
          </a:xfrm>
          <a:prstGeom prst="rect">
            <a:avLst/>
          </a:prstGeom>
          <a:solidFill>
            <a:srgbClr val="16213E"/>
          </a:solidFill>
          <a:ln w="12700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188720"/>
            <a:ext cx="7040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5DADE2"/>
                </a:solidFill>
              </a:rPr>
              <a:t>系統貢獻摘要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645920"/>
            <a:ext cx="7132320" cy="1078992"/>
          </a:xfrm>
          <a:prstGeom prst="rect">
            <a:avLst/>
          </a:prstGeom>
          <a:solidFill>
            <a:srgbClr val="0D182E"/>
          </a:solidFill>
          <a:ln w="1270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1645920"/>
            <a:ext cx="438912" cy="1078992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196596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719072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94560"/>
                </a:solidFill>
              </a:rPr>
              <a:t>事件式傳輸架構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084832"/>
            <a:ext cx="6492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</a:rPr>
              <a:t>FSM 5狀態機過濾假陽性
相較連續串流節省 95–99% 頻寬
山區 4G LTE 環境完全可行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834640"/>
            <a:ext cx="7132320" cy="1078992"/>
          </a:xfrm>
          <a:prstGeom prst="rect">
            <a:avLst/>
          </a:prstGeom>
          <a:solidFill>
            <a:srgbClr val="0D182E"/>
          </a:solidFill>
          <a:ln w="127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834640"/>
            <a:ext cx="438912" cy="1078992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315468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2907792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1C40F"/>
                </a:solidFill>
              </a:rPr>
              <a:t>SAM3 Zero-shot 部署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273552"/>
            <a:ext cx="6492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</a:rPr>
              <a:t>Meta SAM3 Text-Grounding
無需針對火災/人員重新訓練
FP16 加速 + CUDA 13 sm_110 相容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023360"/>
            <a:ext cx="7132320" cy="1078992"/>
          </a:xfrm>
          <a:prstGeom prst="rect">
            <a:avLst/>
          </a:prstGeom>
          <a:solidFill>
            <a:srgbClr val="0D182E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4023360"/>
            <a:ext cx="438912" cy="107899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434340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096512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7AE60"/>
                </a:solidFill>
              </a:rPr>
              <a:t>雙目視覺 + MAVLink 整合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462272"/>
            <a:ext cx="6492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</a:rPr>
              <a:t>雙 D435 同步採集 + 拼接視覺化
MAVLink GPS 時間戳精確定位
fix_type 判斷 + Home GPS 備援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5212080"/>
            <a:ext cx="7132320" cy="1078992"/>
          </a:xfrm>
          <a:prstGeom prst="rect">
            <a:avLst/>
          </a:prstGeom>
          <a:solidFill>
            <a:srgbClr val="0D182E"/>
          </a:solidFill>
          <a:ln w="12700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5212080"/>
            <a:ext cx="438912" cy="1078992"/>
          </a:xfrm>
          <a:prstGeom prst="rect">
            <a:avLst/>
          </a:prstGeom>
          <a:solidFill>
            <a:srgbClr val="5DAD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553212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285232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DADE2"/>
                </a:solidFill>
              </a:rPr>
              <a:t>完整部署驗證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650992"/>
            <a:ext cx="6492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</a:rPr>
              <a:t>Docker 容器化一鍵部署
室內完整驗證（D435×2 + 飛控）✅
Hub Dashboard 實際截圖證明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18120" y="1143000"/>
            <a:ext cx="4206240" cy="5120640"/>
          </a:xfrm>
          <a:prstGeom prst="rect">
            <a:avLst/>
          </a:prstGeom>
          <a:solidFill>
            <a:srgbClr val="16213E"/>
          </a:solidFill>
          <a:ln w="12700">
            <a:solidFill>
              <a:srgbClr val="E945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818120" y="1143000"/>
            <a:ext cx="4206240" cy="411480"/>
          </a:xfrm>
          <a:prstGeom prst="rect">
            <a:avLst/>
          </a:prstGeom>
          <a:solidFill>
            <a:srgbClr val="E945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79" y="1161288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系統規格一覽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09560" y="164592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DADE2"/>
                </a:solidFill>
              </a:rPr>
              <a:t>推論模型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1645920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Meta SAM3 (3.45 GB)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09560" y="198424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DADE2"/>
                </a:solidFill>
              </a:rPr>
              <a:t>推論頻率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01200" y="1984248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2 Hz (0.5s/次)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09560" y="232257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DADE2"/>
                </a:solidFill>
              </a:rPr>
              <a:t>偵測類別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2322576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fire / smoke / person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09560" y="266090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DADE2"/>
                </a:solidFill>
              </a:rPr>
              <a:t>信心門檻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0" y="2660904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score ≥ 0.45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09560" y="299923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DADE2"/>
                </a:solidFill>
              </a:rPr>
              <a:t>首次告警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0" y="2999232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~3.0 秒後確認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09560" y="333756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DADE2"/>
                </a:solidFill>
              </a:rPr>
              <a:t>最高傳送頻率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0" y="3337560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1 次 / 2 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09560" y="367588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DADE2"/>
                </a:solidFill>
              </a:rPr>
              <a:t>每次傳輸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01200" y="3675888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21–66 KB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09560" y="4014216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DADE2"/>
                </a:solidFill>
              </a:rPr>
              <a:t>峰值頻寬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01200" y="4014216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264 Kbps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09560" y="4352544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DADE2"/>
                </a:solidFill>
              </a:rPr>
              <a:t>靜默頻寬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601200" y="4352544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0 Kbps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09560" y="469087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DADE2"/>
                </a:solidFill>
              </a:rPr>
              <a:t>VPN 延遲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01200" y="4690872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~230 ms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09560" y="502920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DADE2"/>
                </a:solidFill>
              </a:rPr>
              <a:t>相機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01200" y="5029200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D435 × 2  640×480@15fps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09560" y="5367528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5DADE2"/>
                </a:solidFill>
              </a:rPr>
              <a:t>GPU 平台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01200" y="5367528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NVIDIA Thor sm_110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